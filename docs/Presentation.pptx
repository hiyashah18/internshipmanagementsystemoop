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blem" id="{19ce3654-6b8b-9ddd-402f-b90a0caa4355}">
          <p14:sldIdLst>
            <p14:sldId id="257"/>
          </p14:sldIdLst>
        </p14:section>
        <p14:section name="Solution" id="{be8ac4c9-4f5b-41b8-eb36-fdb84522029d}">
          <p14:sldIdLst>
            <p14:sldId id="258"/>
          </p14:sldIdLst>
        </p14:section>
        <p14:section name="Design" id="{33494065-0437-8d46-867e-b980856ac95d}">
          <p14:sldIdLst>
            <p14:sldId id="259"/>
            <p14:sldId id="260"/>
            <p14:sldId id="261"/>
            <p14:sldId id="262"/>
          </p14:sldIdLst>
        </p14:section>
        <p14:section name="Demo" id="{4fe34322-cdea-34a8-ec60-8b5529ac96e5}">
          <p14:sldIdLst>
            <p14:sldId id="263"/>
          </p14:sldIdLst>
        </p14:section>
        <p14:section name="Results" id="{89e67cc1-55c4-660f-42d7-c6b37439b783}">
          <p14:sldIdLst>
            <p14:sldId id="264"/>
            <p14:sldId id="265"/>
          </p14:sldIdLst>
        </p14:section>
        <p14:section name="Conclusion" id="{d10f9dc9-e191-4165-7a63-8a9c4c34c1c9}">
          <p14:sldIdLst>
            <p14:sldId id="266"/>
          </p14:sldIdLst>
        </p14:section>
        <p14:section name="Default-1" id="{0e555f3a-038f-29a6-2882-54a834ffb863}">
          <p14:sldIdLst>
            <p14:sldId id="25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B2B"/>
                </a:solidFill>
                <a:latin typeface="+mn-lt"/>
              </a:defRPr>
            </a:pPr>
            <a:r>
              <a:rPr sz="1300" b="0" i="0" u="none" strike="noStrike">
                <a:solidFill>
                  <a:srgbClr val="2B2B2B"/>
                </a:solidFill>
                <a:latin typeface="+mn-lt"/>
              </a:rPr>
              <a:t>Time per operation by number of stored internships (ms)</a:t>
            </a:r>
          </a:p>
        </c:rich>
      </c:tx>
      <c:layout/>
      <c:overlay val="0"/>
    </c:title>
    <c:autoTitleDeleted val="0"/>
    <c:plotArea>
      <c:layout/>
      <c:barChart>
        <c:barDir val="col"/>
        <c:grouping val="clustered"/>
        <c:varyColors val="0"/>
        <c:ser>
          <c:idx val="0"/>
          <c:order val="0"/>
          <c:tx>
            <c:strRef>
              <c:f>Sheet1!$B$1</c:f>
              <c:strCache>
                <c:ptCount val="1"/>
                <c:pt idx="0">
                  <c:v>Search, median (ms)</c:v>
                </c:pt>
              </c:strCache>
            </c:strRef>
          </c:tx>
          <c:spPr>
            <a:solidFill>
              <a:srgbClr val="34486A"/>
            </a:solidFill>
            <a:effectLst/>
          </c:spPr>
          <c:invertIfNegative val="0"/>
          <c:dLbls>
            <c:numFmt formatCode="0.0#" sourceLinked="0"/>
            <c:txPr>
              <a:bodyPr/>
              <a:lstStyle/>
              <a:p>
                <a:pPr>
                  <a:defRPr b="0" i="0" strike="noStrike" sz="1100" u="none">
                    <a:solidFill>
                      <a:srgbClr val="2B2B2B"/>
                    </a:solidFill>
                    <a:latin typeface="+mn-lt"/>
                  </a:defRPr>
                </a:pPr>
              </a:p>
            </c:txPr>
            <c:showLegendKey val="0"/>
            <c:showVal val="1"/>
            <c:showCatName val="0"/>
            <c:showSerName val="0"/>
            <c:showPercent val="0"/>
            <c:showBubbleSize val="0"/>
            <c:showLeaderLines val="0"/>
          </c:dLbls>
          <c:cat>
            <c:multiLvlStrRef>
              <c:f>Sheet1!$A$2:$A$5</c:f>
              <c:multiLvlStrCache>
                <c:ptCount val="4"/>
                <c:lvl>
                  <c:pt idx="0">
                    <c:v>100</c:v>
                  </c:pt>
                  <c:pt idx="1">
                    <c:v>1,000</c:v>
                  </c:pt>
                  <c:pt idx="2">
                    <c:v>5,000</c:v>
                  </c:pt>
                  <c:pt idx="3">
                    <c:v>10,000</c:v>
                  </c:pt>
                </c:lvl>
              </c:multiLvlStrCache>
            </c:multiLvlStrRef>
          </c:cat>
          <c:val>
            <c:numRef>
              <c:f>Sheet1!$B$2:$B$5</c:f>
              <c:numCache>
                <c:formatCode>General</c:formatCode>
                <c:ptCount val="4"/>
                <c:pt idx="0">
                  <c:v>0.06</c:v>
                </c:pt>
                <c:pt idx="1">
                  <c:v>0.106</c:v>
                </c:pt>
                <c:pt idx="2">
                  <c:v>0.485</c:v>
                </c:pt>
                <c:pt idx="3">
                  <c:v>1.182</c:v>
                </c:pt>
              </c:numCache>
            </c:numRef>
          </c:val>
        </c:ser>
        <c:ser>
          <c:idx val="1"/>
          <c:order val="1"/>
          <c:tx>
            <c:strRef>
              <c:f>Sheet1!$C$1</c:f>
              <c:strCache>
                <c:ptCount val="1"/>
                <c:pt idx="0">
                  <c:v>Post one internship, mean (ms)</c:v>
                </c:pt>
              </c:strCache>
            </c:strRef>
          </c:tx>
          <c:spPr>
            <a:solidFill>
              <a:srgbClr val="C4590A"/>
            </a:solidFill>
            <a:effectLst/>
          </c:spPr>
          <c:invertIfNegative val="0"/>
          <c:dLbls>
            <c:numFmt formatCode="0.0#" sourceLinked="0"/>
            <c:txPr>
              <a:bodyPr/>
              <a:lstStyle/>
              <a:p>
                <a:pPr>
                  <a:defRPr b="0" i="0" strike="noStrike" sz="1100" u="none">
                    <a:solidFill>
                      <a:srgbClr val="2B2B2B"/>
                    </a:solidFill>
                    <a:latin typeface="+mn-lt"/>
                  </a:defRPr>
                </a:pPr>
              </a:p>
            </c:txPr>
            <c:showLegendKey val="0"/>
            <c:showVal val="1"/>
            <c:showCatName val="0"/>
            <c:showSerName val="0"/>
            <c:showPercent val="0"/>
            <c:showBubbleSize val="0"/>
            <c:showLeaderLines val="0"/>
          </c:dLbls>
          <c:cat>
            <c:multiLvlStrRef>
              <c:f>Sheet1!$A$2:$A$5</c:f>
              <c:multiLvlStrCache>
                <c:ptCount val="4"/>
                <c:lvl>
                  <c:pt idx="0">
                    <c:v>100</c:v>
                  </c:pt>
                  <c:pt idx="1">
                    <c:v>1,000</c:v>
                  </c:pt>
                  <c:pt idx="2">
                    <c:v>5,000</c:v>
                  </c:pt>
                  <c:pt idx="3">
                    <c:v>10,000</c:v>
                  </c:pt>
                </c:lvl>
              </c:multiLvlStrCache>
            </c:multiLvlStrRef>
          </c:cat>
          <c:val>
            <c:numRef>
              <c:f>Sheet1!$C$2:$C$5</c:f>
              <c:numCache>
                <c:formatCode>General</c:formatCode>
                <c:ptCount val="4"/>
                <c:pt idx="0">
                  <c:v>1.401</c:v>
                </c:pt>
                <c:pt idx="1">
                  <c:v>1.844</c:v>
                </c:pt>
                <c:pt idx="2">
                  <c:v>7.934</c:v>
                </c:pt>
                <c:pt idx="3">
                  <c:v>15.877</c:v>
                </c:pt>
              </c:numCache>
            </c:numRef>
          </c:val>
        </c:ser>
        <c:dLbls>
          <c:numFmt formatCode="0.0#" sourceLinked="0"/>
          <c:txPr>
            <a:bodyPr/>
            <a:lstStyle/>
            <a:p>
              <a:pPr>
                <a:defRPr b="0" i="0" strike="noStrike" sz="1100" u="none">
                  <a:solidFill>
                    <a:srgbClr val="2B2B2B"/>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title>
          <c:tx>
            <c:rich>
              <a:bodyPr/>
              <a:lstStyle/>
              <a:p>
                <a:pPr>
                  <a:defRPr sz="1200" b="0" i="0" u="none" strike="noStrike">
                    <a:solidFill>
                      <a:srgbClr val="6B665A"/>
                    </a:solidFill>
                    <a:latin typeface="+mn-lt"/>
                  </a:defRPr>
                </a:pPr>
                <a:r>
                  <a:rPr sz="1200" b="0" i="0" u="none" strike="noStrike">
                    <a:solidFill>
                      <a:srgbClr val="6B665A"/>
                    </a:solidFill>
                    <a:latin typeface="+mn-lt"/>
                  </a:rPr>
                  <a:t>internships stored</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B2B2B"/>
                </a:solidFill>
                <a:latin typeface="+mn-lt"/>
              </a:defRPr>
            </a:pPr>
            <a:endParaRPr lang="en-US"/>
          </a:p>
        </c:txPr>
        <c:crossAx val="2094734552"/>
        <c:crosses val="autoZero"/>
        <c:auto val="1"/>
        <c:lblAlgn val="ctr"/>
        <c:noMultiLvlLbl val="1"/>
      </c:catAx>
      <c:valAx>
        <c:axId val="2094734552"/>
        <c:scaling>
          <c:orientation val="minMax"/>
          <c:max val="18"/>
          <c:min val="0"/>
        </c:scaling>
        <c:delete val="0"/>
        <c:axPos val="l"/>
        <c:majorGridlines>
          <c:spPr>
            <a:ln w="9525" cap="flat">
              <a:solidFill>
                <a:srgbClr val="E3DDC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665A"/>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2B2B2B"/>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In this project we built a complete internship management system in Java. Companies post internships, students search and apply, companies accept or reject applicants, and an administrator oversees all records. It is a web application, but it needs no libraries, no framework and no database: only the JDK. The point of the project is the object-oriented design underneath, so we will show the problem, the design, the diagrams, a short walkthrough of the screens, and how we checked that it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everyday picture. Today a lot of internship placement runs through e-mail, spreadsheets and notice boards. Students cannot see every opening, companies lose track of applicants, and nobody has a single record of who applied where. The same student can apply twice, or apply to something that closed last week. Our sample data has three user roles and five internships, which is enough to show every screen. Our question is whether one plain-Java system can give all three roles the same trustworthy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of a placement coordinator’s desk. The obvious way, on the left, is many channels that nobody can see in full. Our way, on the right, is six steps that the system handles. A user registers, a company posts an internship, a student searches by keyword and location, applies, the owning company reviews the application, and the student tracks the status. The example at the bottom is real data from our sample set: Aarav applies to the Java Developer Intern at TechNova, and the application starts as pending.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shape of the program. At the top is the web package. WebServer receives every request, reads the session cookie, checks that the user has the role the page needs, and then calls the services. The four services keep the records in memory and save them through a generic DataStore. Underneath are the model classes, the utilities and the exception classes, and Main wires everything together. The services never see HTTP, which is why we could test and benchmark them directly. In total it is 30 files and 1,860 lines of plain Java.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eleven concepts from the project brief and where each one lives in our code. Classes and objects: the model classes. Encapsulation: every field is private and the setters validate. Inheritance and abstraction: three user types extend an abstract User. Polymorphism: each role supplies its own menu, and the search method is overloaded. Interfaces and generics: three small generic interfaces and one generic DataStore. Collections, exceptions, file handling and packages are all used as described. The twelfth card is not in the brief, but validation and output escaping are what keep bad input from breaking the 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blueprint. On the left is the domain model: the abstract User at the top with Student, CompanyRepresentative and Administrator below it, then Company, Internship and Application with the status enumeration. On the right are the services, the three interfaces and the web layer. Hollow arrowheads mean inheritance or implementation. The report also contains the exception hierarchy, a use case diagram, a sequence diagram of a student applying, and an activity diagram of the application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polymorphism and abstraction put to work. User is abstract and declares three abstract methods: the role, the dashboard title and the menu links. Student, CompanyRepresentative and Administrator each answer them differently, so a student sees Browse Internships and My Applications, a company sees My Internships and Post Internship, and the administrator sees Manage Records. The web layer just asks the User for its menu. On the right are three small interfaces: Manageable, Searchable and Applicable, which separate what a service offers from how it stores data. The search method is overloaded, with one version taking a keyword and another taking a keyword and a location.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about five minutes. Start the application with run.bat or sh run.sh and open localhost:8080. Step one: log in as the demo student, search for java or filter by Pune, and apply to a posting. The status starts as pending, and a second click on the same posting is refused with a message. Step two: log out, log in as the TechNova representative, open My Internships, see the applicant count, open the applicants and accept one. Step three: log back in as the student and show that the status changed to accepted. Finally log in as the administrator to show the record lists and the Remove buttons. The demo accounts are on the login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we claim the system works, we checked it. The project documents 18 test cases, from a wrong password to a restart of the server. We ran every one against a freshly started instance, using a script that sends the same requests as the browser, and all 18 passed. One of them checks that the data survives a restart. On the sample data every page answers in about one millisecond, and a keyword search over ten thousand internships takes about 1.2 milliseconds. To be honest about the limits: there is no unit-test suite and no coverage figure yet, and the timings come from one run on one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payoff of the measurements. We called the services directly with 100, 1,000, 5,000 and 10,000 internships. Searching is a linear scan and stays cheap: about 0.06 milliseconds at 100 internships and 1.2 milliseconds at 10,000. Writing is the limit. Each save serialises the complete list again, so posting one internship takes 1.4 milliseconds at 100 records and almost 16 at 10,000. That is still unnoticeable for one user, and a placement season is likely to involve hundreds of postings, so the design is fine for its intended use. If it had to grow, the services only depend on DataStore through load and save, so a database could replace it. These are single runs on one machine, so they show the trend, not precise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The design uses an abstract User with three roles, small generic interfaces, a checked exception hierarchy and a generic data store, which together cover all eleven object-oriented concepts in the brief. All 18 documented test cases pass, pages answer in about a millisecond, and search over ten thousand internships takes about 1.2 milliseconds. The limits are real: the data is fictional, passwords are hashed without a salt, sessions never expire, every save rewrites the whole file, and there is no unit-test suite yet. Next steps are tests, a database and a stronger password scheme, then e-mail notices and resume upload. Thank you,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685800"/>
          </a:xfrm>
          <a:prstGeom prst="rect">
            <a:avLst/>
          </a:prstGeom>
          <a:noFill/>
          <a:ln/>
        </p:spPr>
        <p:txBody>
          <a:bodyPr wrap="square" rtlCol="0"/>
          <a:lstStyle>
            <a:lvl1pPr algn="l" indent="0" marL="0">
              <a:buNone/>
              <a:defRPr lang="en-US" sz="3400" b="1" dirty="0">
                <a:solidFill>
                  <a:schemeClr val="bg1"/>
                </a:solidFill>
                <a:latin typeface="Calibri" pitchFamily="34" charset="0"/>
                <a:ea typeface="Calibri" pitchFamily="34" charset="-122"/>
                <a:cs typeface="Calibri" pitchFamily="34" charset="-120"/>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0698480" y="6400800"/>
            <a:ext cx="94183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0C8"/>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IGHT">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685800"/>
          </a:xfrm>
          <a:prstGeom prst="rect">
            <a:avLst/>
          </a:prstGeom>
          <a:noFill/>
          <a:ln/>
        </p:spPr>
        <p:txBody>
          <a:bodyPr wrap="square" rtlCol="0"/>
          <a:lstStyle>
            <a:lvl1pPr algn="l" indent="0" marL="0">
              <a:buNone/>
              <a:defRPr lang="en-US" sz="3400" b="1" dirty="0">
                <a:solidFill>
                  <a:schemeClr val="tx1"/>
                </a:solidFill>
                <a:latin typeface="Calibri" pitchFamily="34" charset="0"/>
                <a:ea typeface="Calibri" pitchFamily="34" charset="-122"/>
                <a:cs typeface="Calibri" pitchFamily="34" charset="-120"/>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0698480" y="6400800"/>
            <a:ext cx="94183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65A"/>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WARM">
    <p:bg>
      <p:bgPr>
        <a:solidFill>
          <a:schemeClr val="accent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685800"/>
          </a:xfrm>
          <a:prstGeom prst="rect">
            <a:avLst/>
          </a:prstGeom>
          <a:noFill/>
          <a:ln/>
        </p:spPr>
        <p:txBody>
          <a:bodyPr wrap="square" rtlCol="0"/>
          <a:lstStyle>
            <a:lvl1pPr algn="l" indent="0" marL="0">
              <a:buNone/>
              <a:defRPr lang="en-US" sz="3400" b="1" dirty="0">
                <a:solidFill>
                  <a:schemeClr val="tx1"/>
                </a:solidFill>
                <a:latin typeface="Calibri" pitchFamily="34" charset="0"/>
                <a:ea typeface="Calibri" pitchFamily="34" charset="-122"/>
                <a:cs typeface="Calibri" pitchFamily="34" charset="-120"/>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0698480" y="6400800"/>
            <a:ext cx="9418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latin typeface="Calibri"/>
                <a:ea typeface="Calibri"/>
                <a:cs typeface="Calibri"/>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698480" y="6400800"/>
            <a:ext cx="94183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0C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github.com/hiyashah18/InternshipManagementSystemOOP" TargetMode="External"/><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4.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jpg"/><Relationship Id="rId3" Type="http://schemas.openxmlformats.org/officeDocument/2006/relationships/image" Target="../media/image-8-3.jp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Ring 1"/>
          <p:cNvSpPr/>
          <p:nvPr/>
        </p:nvSpPr>
        <p:spPr>
          <a:xfrm>
            <a:off x="6217920" y="502920"/>
            <a:ext cx="5852160" cy="5852160"/>
          </a:xfrm>
          <a:prstGeom prst="ellipse">
            <a:avLst/>
          </a:prstGeom>
          <a:ln w="12700">
            <a:solidFill>
              <a:schemeClr val="accent4"/>
            </a:solidFill>
            <a:prstDash val="solid"/>
          </a:ln>
        </p:spPr>
      </p:sp>
      <p:sp>
        <p:nvSpPr>
          <p:cNvPr id="3" name="Ring 2"/>
          <p:cNvSpPr/>
          <p:nvPr/>
        </p:nvSpPr>
        <p:spPr>
          <a:xfrm>
            <a:off x="7223760" y="1508760"/>
            <a:ext cx="3840480" cy="3840480"/>
          </a:xfrm>
          <a:prstGeom prst="ellipse">
            <a:avLst/>
          </a:prstGeom>
          <a:ln w="12700">
            <a:solidFill>
              <a:schemeClr val="accent4"/>
            </a:solidFill>
            <a:prstDash val="solid"/>
          </a:ln>
        </p:spPr>
      </p:sp>
      <p:sp>
        <p:nvSpPr>
          <p:cNvPr id="4" name="Ring 3"/>
          <p:cNvSpPr/>
          <p:nvPr/>
        </p:nvSpPr>
        <p:spPr>
          <a:xfrm>
            <a:off x="8229600" y="2514600"/>
            <a:ext cx="1828800" cy="1828800"/>
          </a:xfrm>
          <a:prstGeom prst="ellipse">
            <a:avLst/>
          </a:prstGeom>
          <a:ln w="12700">
            <a:solidFill>
              <a:schemeClr val="accent4"/>
            </a:solidFill>
            <a:prstDash val="solid"/>
          </a:ln>
        </p:spPr>
      </p:sp>
      <p:sp>
        <p:nvSpPr>
          <p:cNvPr id="5" name="Shape 3"/>
          <p:cNvSpPr/>
          <p:nvPr/>
        </p:nvSpPr>
        <p:spPr>
          <a:xfrm>
            <a:off x="7040880" y="1965960"/>
            <a:ext cx="2103120" cy="1463040"/>
          </a:xfrm>
          <a:prstGeom prst="line">
            <a:avLst/>
          </a:prstGeom>
          <a:noFill/>
          <a:ln w="12700">
            <a:solidFill>
              <a:schemeClr val="accent4"/>
            </a:solidFill>
            <a:prstDash val="solid"/>
          </a:ln>
        </p:spPr>
      </p:sp>
      <p:sp>
        <p:nvSpPr>
          <p:cNvPr id="6" name="Shape 4"/>
          <p:cNvSpPr/>
          <p:nvPr/>
        </p:nvSpPr>
        <p:spPr>
          <a:xfrm flipV="1">
            <a:off x="9144000" y="777240"/>
            <a:ext cx="822960" cy="2651760"/>
          </a:xfrm>
          <a:prstGeom prst="line">
            <a:avLst/>
          </a:prstGeom>
          <a:noFill/>
          <a:ln w="12700">
            <a:solidFill>
              <a:schemeClr val="accent4"/>
            </a:solidFill>
            <a:prstDash val="solid"/>
          </a:ln>
        </p:spPr>
      </p:sp>
      <p:sp>
        <p:nvSpPr>
          <p:cNvPr id="7" name="Shape 5"/>
          <p:cNvSpPr/>
          <p:nvPr/>
        </p:nvSpPr>
        <p:spPr>
          <a:xfrm flipV="1">
            <a:off x="7863840" y="3429000"/>
            <a:ext cx="1280160" cy="1965960"/>
          </a:xfrm>
          <a:prstGeom prst="line">
            <a:avLst/>
          </a:prstGeom>
          <a:noFill/>
          <a:ln w="12700">
            <a:solidFill>
              <a:schemeClr val="accent4"/>
            </a:solidFill>
            <a:prstDash val="solid"/>
          </a:ln>
        </p:spPr>
      </p:sp>
      <p:sp>
        <p:nvSpPr>
          <p:cNvPr id="8" name="Shape 6"/>
          <p:cNvSpPr/>
          <p:nvPr/>
        </p:nvSpPr>
        <p:spPr>
          <a:xfrm>
            <a:off x="9144000" y="3429000"/>
            <a:ext cx="1463040" cy="1965960"/>
          </a:xfrm>
          <a:prstGeom prst="line">
            <a:avLst/>
          </a:prstGeom>
          <a:noFill/>
          <a:ln w="12700">
            <a:solidFill>
              <a:schemeClr val="accent4"/>
            </a:solidFill>
            <a:prstDash val="solid"/>
          </a:ln>
        </p:spPr>
      </p:sp>
      <p:sp>
        <p:nvSpPr>
          <p:cNvPr id="9" name="Shape 7"/>
          <p:cNvSpPr/>
          <p:nvPr/>
        </p:nvSpPr>
        <p:spPr>
          <a:xfrm flipV="1">
            <a:off x="9144000" y="2880360"/>
            <a:ext cx="2377440" cy="548640"/>
          </a:xfrm>
          <a:prstGeom prst="line">
            <a:avLst/>
          </a:prstGeom>
          <a:noFill/>
          <a:ln w="12700">
            <a:solidFill>
              <a:schemeClr val="accent4"/>
            </a:solidFill>
            <a:prstDash val="solid"/>
          </a:ln>
        </p:spPr>
      </p:sp>
      <p:sp>
        <p:nvSpPr>
          <p:cNvPr id="10" name="Shape 8"/>
          <p:cNvSpPr/>
          <p:nvPr/>
        </p:nvSpPr>
        <p:spPr>
          <a:xfrm flipV="1">
            <a:off x="7040880" y="777240"/>
            <a:ext cx="2926080" cy="1188720"/>
          </a:xfrm>
          <a:prstGeom prst="line">
            <a:avLst/>
          </a:prstGeom>
          <a:noFill/>
          <a:ln w="12700">
            <a:solidFill>
              <a:schemeClr val="accent4"/>
            </a:solidFill>
            <a:prstDash val="solid"/>
          </a:ln>
        </p:spPr>
      </p:sp>
      <p:sp>
        <p:nvSpPr>
          <p:cNvPr id="11" name="Shape 9"/>
          <p:cNvSpPr/>
          <p:nvPr/>
        </p:nvSpPr>
        <p:spPr>
          <a:xfrm flipV="1">
            <a:off x="10607040" y="2880360"/>
            <a:ext cx="914400" cy="2514600"/>
          </a:xfrm>
          <a:prstGeom prst="line">
            <a:avLst/>
          </a:prstGeom>
          <a:noFill/>
          <a:ln w="12700">
            <a:solidFill>
              <a:schemeClr val="accent4"/>
            </a:solidFill>
            <a:prstDash val="solid"/>
          </a:ln>
        </p:spPr>
      </p:sp>
      <p:sp>
        <p:nvSpPr>
          <p:cNvPr id="12" name="Shape 10"/>
          <p:cNvSpPr/>
          <p:nvPr/>
        </p:nvSpPr>
        <p:spPr>
          <a:xfrm>
            <a:off x="7863840" y="5394960"/>
            <a:ext cx="2743200" cy="0"/>
          </a:xfrm>
          <a:prstGeom prst="line">
            <a:avLst/>
          </a:prstGeom>
          <a:noFill/>
          <a:ln w="12700">
            <a:solidFill>
              <a:schemeClr val="accent4"/>
            </a:solidFill>
            <a:prstDash val="solid"/>
          </a:ln>
        </p:spPr>
      </p:sp>
      <p:sp>
        <p:nvSpPr>
          <p:cNvPr id="13" name="Node Student"/>
          <p:cNvSpPr/>
          <p:nvPr/>
        </p:nvSpPr>
        <p:spPr>
          <a:xfrm>
            <a:off x="6931152" y="1856232"/>
            <a:ext cx="219456" cy="219456"/>
          </a:xfrm>
          <a:prstGeom prst="ellipse">
            <a:avLst/>
          </a:prstGeom>
          <a:solidFill>
            <a:schemeClr val="accent3"/>
          </a:solidFill>
          <a:ln w="12700">
            <a:solidFill>
              <a:schemeClr val="accent3"/>
            </a:solidFill>
            <a:prstDash val="solid"/>
          </a:ln>
        </p:spPr>
      </p:sp>
      <p:sp>
        <p:nvSpPr>
          <p:cNvPr id="14" name="Node Company"/>
          <p:cNvSpPr/>
          <p:nvPr/>
        </p:nvSpPr>
        <p:spPr>
          <a:xfrm>
            <a:off x="9857232" y="667512"/>
            <a:ext cx="219456" cy="219456"/>
          </a:xfrm>
          <a:prstGeom prst="ellipse">
            <a:avLst/>
          </a:prstGeom>
          <a:solidFill>
            <a:schemeClr val="accent3"/>
          </a:solidFill>
          <a:ln w="12700">
            <a:solidFill>
              <a:schemeClr val="accent3"/>
            </a:solidFill>
            <a:prstDash val="solid"/>
          </a:ln>
        </p:spPr>
      </p:sp>
      <p:sp>
        <p:nvSpPr>
          <p:cNvPr id="15" name="Node Admin"/>
          <p:cNvSpPr/>
          <p:nvPr/>
        </p:nvSpPr>
        <p:spPr>
          <a:xfrm>
            <a:off x="7754112" y="5285232"/>
            <a:ext cx="219456" cy="219456"/>
          </a:xfrm>
          <a:prstGeom prst="ellipse">
            <a:avLst/>
          </a:prstGeom>
          <a:solidFill>
            <a:schemeClr val="accent3"/>
          </a:solidFill>
          <a:ln w="12700">
            <a:solidFill>
              <a:schemeClr val="accent3"/>
            </a:solidFill>
            <a:prstDash val="solid"/>
          </a:ln>
        </p:spPr>
      </p:sp>
      <p:sp>
        <p:nvSpPr>
          <p:cNvPr id="16" name="Node Application"/>
          <p:cNvSpPr/>
          <p:nvPr/>
        </p:nvSpPr>
        <p:spPr>
          <a:xfrm>
            <a:off x="10497312" y="5285232"/>
            <a:ext cx="219456" cy="219456"/>
          </a:xfrm>
          <a:prstGeom prst="ellipse">
            <a:avLst/>
          </a:prstGeom>
          <a:solidFill>
            <a:schemeClr val="accent3"/>
          </a:solidFill>
          <a:ln w="12700">
            <a:solidFill>
              <a:schemeClr val="accent3"/>
            </a:solidFill>
            <a:prstDash val="solid"/>
          </a:ln>
        </p:spPr>
      </p:sp>
      <p:sp>
        <p:nvSpPr>
          <p:cNvPr id="17" name="Node Internship"/>
          <p:cNvSpPr/>
          <p:nvPr/>
        </p:nvSpPr>
        <p:spPr>
          <a:xfrm>
            <a:off x="11411712" y="2770632"/>
            <a:ext cx="219456" cy="219456"/>
          </a:xfrm>
          <a:prstGeom prst="ellipse">
            <a:avLst/>
          </a:prstGeom>
          <a:solidFill>
            <a:schemeClr val="accent3"/>
          </a:solidFill>
          <a:ln w="12700">
            <a:solidFill>
              <a:schemeClr val="accent3"/>
            </a:solidFill>
            <a:prstDash val="solid"/>
          </a:ln>
        </p:spPr>
      </p:sp>
      <p:sp>
        <p:nvSpPr>
          <p:cNvPr id="18" name="Core node"/>
          <p:cNvSpPr/>
          <p:nvPr/>
        </p:nvSpPr>
        <p:spPr>
          <a:xfrm>
            <a:off x="8961120" y="3246120"/>
            <a:ext cx="365760" cy="365760"/>
          </a:xfrm>
          <a:prstGeom prst="ellipse">
            <a:avLst/>
          </a:prstGeom>
          <a:solidFill>
            <a:schemeClr val="accent2"/>
          </a:solidFill>
          <a:ln w="12700">
            <a:solidFill>
              <a:schemeClr val="accent2"/>
            </a:solidFill>
            <a:prstDash val="solid"/>
          </a:ln>
        </p:spPr>
      </p:sp>
      <p:sp>
        <p:nvSpPr>
          <p:cNvPr id="19" name="Text 17"/>
          <p:cNvSpPr txBox="1"/>
          <p:nvPr/>
        </p:nvSpPr>
        <p:spPr>
          <a:xfrm>
            <a:off x="6400800" y="2194560"/>
            <a:ext cx="1280160" cy="274320"/>
          </a:xfrm>
          <a:prstGeom prst="rect">
            <a:avLst/>
          </a:prstGeom>
          <a:noFill/>
          <a:ln/>
        </p:spPr>
        <p:txBody>
          <a:bodyPr wrap="square" lIns="0" tIns="0" rIns="0" bIns="0" rtlCol="0" anchor="t"/>
          <a:lstStyle/>
          <a:p>
            <a:pPr indent="0" marL="0">
              <a:buNone/>
            </a:pPr>
            <a:r>
              <a:rPr lang="en-US" sz="1200" dirty="0">
                <a:solidFill>
                  <a:srgbClr val="9FB0C8"/>
                </a:solidFill>
                <a:latin typeface="Calibri" pitchFamily="34" charset="0"/>
                <a:ea typeface="Calibri" pitchFamily="34" charset="-122"/>
                <a:cs typeface="Calibri" pitchFamily="34" charset="-120"/>
              </a:rPr>
              <a:t>Student</a:t>
            </a:r>
            <a:endParaRPr lang="en-US" sz="1200" dirty="0"/>
          </a:p>
        </p:txBody>
      </p:sp>
      <p:sp>
        <p:nvSpPr>
          <p:cNvPr id="20" name="Text 18"/>
          <p:cNvSpPr txBox="1"/>
          <p:nvPr/>
        </p:nvSpPr>
        <p:spPr>
          <a:xfrm>
            <a:off x="10149840" y="640080"/>
            <a:ext cx="1280160" cy="274320"/>
          </a:xfrm>
          <a:prstGeom prst="rect">
            <a:avLst/>
          </a:prstGeom>
          <a:noFill/>
          <a:ln/>
        </p:spPr>
        <p:txBody>
          <a:bodyPr wrap="square" lIns="0" tIns="0" rIns="0" bIns="0" rtlCol="0" anchor="t"/>
          <a:lstStyle/>
          <a:p>
            <a:pPr indent="0" marL="0">
              <a:buNone/>
            </a:pPr>
            <a:r>
              <a:rPr lang="en-US" sz="1200" dirty="0">
                <a:solidFill>
                  <a:srgbClr val="9FB0C8"/>
                </a:solidFill>
                <a:latin typeface="Calibri" pitchFamily="34" charset="0"/>
                <a:ea typeface="Calibri" pitchFamily="34" charset="-122"/>
                <a:cs typeface="Calibri" pitchFamily="34" charset="-120"/>
              </a:rPr>
              <a:t>Company</a:t>
            </a:r>
            <a:endParaRPr lang="en-US" sz="1200" dirty="0"/>
          </a:p>
        </p:txBody>
      </p:sp>
      <p:sp>
        <p:nvSpPr>
          <p:cNvPr id="21" name="Text 19"/>
          <p:cNvSpPr txBox="1"/>
          <p:nvPr/>
        </p:nvSpPr>
        <p:spPr>
          <a:xfrm>
            <a:off x="7315200" y="5577840"/>
            <a:ext cx="1280160" cy="274320"/>
          </a:xfrm>
          <a:prstGeom prst="rect">
            <a:avLst/>
          </a:prstGeom>
          <a:noFill/>
          <a:ln/>
        </p:spPr>
        <p:txBody>
          <a:bodyPr wrap="square" lIns="0" tIns="0" rIns="0" bIns="0" rtlCol="0" anchor="t"/>
          <a:lstStyle/>
          <a:p>
            <a:pPr indent="0" marL="0">
              <a:buNone/>
            </a:pPr>
            <a:r>
              <a:rPr lang="en-US" sz="1200" dirty="0">
                <a:solidFill>
                  <a:srgbClr val="9FB0C8"/>
                </a:solidFill>
                <a:latin typeface="Calibri" pitchFamily="34" charset="0"/>
                <a:ea typeface="Calibri" pitchFamily="34" charset="-122"/>
                <a:cs typeface="Calibri" pitchFamily="34" charset="-120"/>
              </a:rPr>
              <a:t>Admin</a:t>
            </a:r>
            <a:endParaRPr lang="en-US" sz="1200" dirty="0"/>
          </a:p>
        </p:txBody>
      </p:sp>
      <p:sp>
        <p:nvSpPr>
          <p:cNvPr id="22" name="Text 20"/>
          <p:cNvSpPr txBox="1"/>
          <p:nvPr/>
        </p:nvSpPr>
        <p:spPr>
          <a:xfrm>
            <a:off x="10058400" y="5577840"/>
            <a:ext cx="1371600" cy="274320"/>
          </a:xfrm>
          <a:prstGeom prst="rect">
            <a:avLst/>
          </a:prstGeom>
          <a:noFill/>
          <a:ln/>
        </p:spPr>
        <p:txBody>
          <a:bodyPr wrap="square" lIns="0" tIns="0" rIns="0" bIns="0" rtlCol="0" anchor="t"/>
          <a:lstStyle/>
          <a:p>
            <a:pPr indent="0" marL="0">
              <a:buNone/>
            </a:pPr>
            <a:r>
              <a:rPr lang="en-US" sz="1200" dirty="0">
                <a:solidFill>
                  <a:srgbClr val="9FB0C8"/>
                </a:solidFill>
                <a:latin typeface="Calibri" pitchFamily="34" charset="0"/>
                <a:ea typeface="Calibri" pitchFamily="34" charset="-122"/>
                <a:cs typeface="Calibri" pitchFamily="34" charset="-120"/>
              </a:rPr>
              <a:t>Application</a:t>
            </a:r>
            <a:endParaRPr lang="en-US" sz="1200" dirty="0"/>
          </a:p>
        </p:txBody>
      </p:sp>
      <p:sp>
        <p:nvSpPr>
          <p:cNvPr id="23" name="Text 21"/>
          <p:cNvSpPr txBox="1"/>
          <p:nvPr/>
        </p:nvSpPr>
        <p:spPr>
          <a:xfrm>
            <a:off x="10835640" y="3063240"/>
            <a:ext cx="1280160" cy="274320"/>
          </a:xfrm>
          <a:prstGeom prst="rect">
            <a:avLst/>
          </a:prstGeom>
          <a:noFill/>
          <a:ln/>
        </p:spPr>
        <p:txBody>
          <a:bodyPr wrap="square" lIns="0" tIns="0" rIns="0" bIns="0" rtlCol="0" anchor="t"/>
          <a:lstStyle/>
          <a:p>
            <a:pPr indent="0" marL="0">
              <a:buNone/>
            </a:pPr>
            <a:r>
              <a:rPr lang="en-US" sz="1200" dirty="0">
                <a:solidFill>
                  <a:srgbClr val="9FB0C8"/>
                </a:solidFill>
                <a:latin typeface="Calibri" pitchFamily="34" charset="0"/>
                <a:ea typeface="Calibri" pitchFamily="34" charset="-122"/>
                <a:cs typeface="Calibri" pitchFamily="34" charset="-120"/>
              </a:rPr>
              <a:t>Internship</a:t>
            </a:r>
            <a:endParaRPr lang="en-US" sz="1200" dirty="0"/>
          </a:p>
        </p:txBody>
      </p:sp>
      <p:sp>
        <p:nvSpPr>
          <p:cNvPr id="24" name="Text 22"/>
          <p:cNvSpPr txBox="1"/>
          <p:nvPr/>
        </p:nvSpPr>
        <p:spPr>
          <a:xfrm>
            <a:off x="548640" y="502920"/>
            <a:ext cx="7315200" cy="274320"/>
          </a:xfrm>
          <a:prstGeom prst="rect">
            <a:avLst/>
          </a:prstGeom>
          <a:noFill/>
          <a:ln/>
        </p:spPr>
        <p:txBody>
          <a:bodyPr wrap="square" lIns="0" tIns="0" rIns="0" bIns="0" rtlCol="0" anchor="t"/>
          <a:lstStyle/>
          <a:p>
            <a:pPr indent="0" marL="0">
              <a:buNone/>
            </a:pPr>
            <a:r>
              <a:rPr lang="en-US" sz="1200" b="1" spc="300" kern="0" dirty="0">
                <a:solidFill>
                  <a:schemeClr val="accent2"/>
                </a:solidFill>
                <a:latin typeface="Calibri" pitchFamily="34" charset="0"/>
                <a:ea typeface="Calibri" pitchFamily="34" charset="-122"/>
                <a:cs typeface="Calibri" pitchFamily="34" charset="-120"/>
              </a:rPr>
              <a:t>OBJECT ORIENTED PROGRAMMING · COURSE PROJECT</a:t>
            </a:r>
            <a:endParaRPr lang="en-US" sz="1200" dirty="0"/>
          </a:p>
        </p:txBody>
      </p:sp>
      <p:sp>
        <p:nvSpPr>
          <p:cNvPr id="25" name="Text 23"/>
          <p:cNvSpPr txBox="1"/>
          <p:nvPr/>
        </p:nvSpPr>
        <p:spPr>
          <a:xfrm>
            <a:off x="548640" y="1828800"/>
            <a:ext cx="5669280" cy="1554480"/>
          </a:xfrm>
          <a:prstGeom prst="rect">
            <a:avLst/>
          </a:prstGeom>
          <a:noFill/>
          <a:ln/>
        </p:spPr>
        <p:txBody>
          <a:bodyPr wrap="square" lIns="0" tIns="0" rIns="0" bIns="0" rtlCol="0" anchor="t"/>
          <a:lstStyle/>
          <a:p>
            <a:pPr indent="0" marL="0">
              <a:buNone/>
            </a:pPr>
            <a:r>
              <a:rPr lang="en-US" sz="4400" b="1" dirty="0">
                <a:solidFill>
                  <a:schemeClr val="bg1"/>
                </a:solidFill>
                <a:latin typeface="Calibri" pitchFamily="34" charset="0"/>
                <a:ea typeface="Calibri" pitchFamily="34" charset="-122"/>
                <a:cs typeface="Calibri" pitchFamily="34" charset="-120"/>
              </a:rPr>
              <a:t>Internship Management System</a:t>
            </a:r>
            <a:endParaRPr lang="en-US" sz="4400" dirty="0"/>
          </a:p>
        </p:txBody>
      </p:sp>
      <p:sp>
        <p:nvSpPr>
          <p:cNvPr id="26" name="Text 24"/>
          <p:cNvSpPr txBox="1"/>
          <p:nvPr/>
        </p:nvSpPr>
        <p:spPr>
          <a:xfrm>
            <a:off x="548640" y="3657600"/>
            <a:ext cx="5669280" cy="365760"/>
          </a:xfrm>
          <a:prstGeom prst="rect">
            <a:avLst/>
          </a:prstGeom>
          <a:noFill/>
          <a:ln/>
        </p:spPr>
        <p:txBody>
          <a:bodyPr wrap="square" lIns="0" tIns="0" rIns="0" bIns="0" rtlCol="0" anchor="t"/>
          <a:lstStyle/>
          <a:p>
            <a:pPr indent="0" marL="0">
              <a:buNone/>
            </a:pPr>
            <a:r>
              <a:rPr lang="en-US" sz="1800" dirty="0">
                <a:solidFill>
                  <a:srgbClr val="E7EDF6"/>
                </a:solidFill>
                <a:latin typeface="Calibri" pitchFamily="34" charset="0"/>
                <a:ea typeface="Calibri" pitchFamily="34" charset="-122"/>
                <a:cs typeface="Calibri" pitchFamily="34" charset="-120"/>
              </a:rPr>
              <a:t>built with Object-Oriented Design in Java</a:t>
            </a:r>
            <a:endParaRPr lang="en-US" sz="1800" dirty="0"/>
          </a:p>
        </p:txBody>
      </p:sp>
      <p:sp>
        <p:nvSpPr>
          <p:cNvPr id="27" name="Text 25"/>
          <p:cNvSpPr txBox="1"/>
          <p:nvPr/>
        </p:nvSpPr>
        <p:spPr>
          <a:xfrm>
            <a:off x="548640" y="5669280"/>
            <a:ext cx="6400800" cy="320040"/>
          </a:xfrm>
          <a:prstGeom prst="rect">
            <a:avLst/>
          </a:prstGeom>
          <a:noFill/>
          <a:ln/>
        </p:spPr>
        <p:txBody>
          <a:bodyPr wrap="square" lIns="0" tIns="0" rIns="0" bIns="0" rtlCol="0" anchor="t"/>
          <a:lstStyle/>
          <a:p>
            <a:pPr indent="0" marL="0">
              <a:buNone/>
            </a:pPr>
            <a:r>
              <a:rPr lang="en-US" sz="1600" dirty="0">
                <a:solidFill>
                  <a:schemeClr val="bg1"/>
                </a:solidFill>
                <a:latin typeface="Calibri" pitchFamily="34" charset="0"/>
                <a:ea typeface="Calibri" pitchFamily="34" charset="-122"/>
                <a:cs typeface="Calibri" pitchFamily="34" charset="-120"/>
              </a:rPr>
              <a:t>Hiya Shah (R055) · Manyata Rao (R049)</a:t>
            </a:r>
            <a:endParaRPr lang="en-US" sz="1600" dirty="0"/>
          </a:p>
        </p:txBody>
      </p:sp>
      <p:sp>
        <p:nvSpPr>
          <p:cNvPr id="28" name="Text 26"/>
          <p:cNvSpPr txBox="1"/>
          <p:nvPr/>
        </p:nvSpPr>
        <p:spPr>
          <a:xfrm>
            <a:off x="548640" y="6035040"/>
            <a:ext cx="6400800" cy="274320"/>
          </a:xfrm>
          <a:prstGeom prst="rect">
            <a:avLst/>
          </a:prstGeom>
          <a:noFill/>
          <a:ln/>
        </p:spPr>
        <p:txBody>
          <a:bodyPr wrap="square" lIns="0" tIns="0" rIns="0" bIns="0" rtlCol="0" anchor="t"/>
          <a:lstStyle/>
          <a:p>
            <a:pPr indent="0" marL="0">
              <a:buNone/>
            </a:pPr>
            <a:r>
              <a:rPr lang="en-US" sz="1200" dirty="0">
                <a:solidFill>
                  <a:srgbClr val="9FB0C8"/>
                </a:solidFill>
                <a:latin typeface="Calibri" pitchFamily="34" charset="0"/>
                <a:ea typeface="Calibri" pitchFamily="34" charset="-122"/>
                <a:cs typeface="Calibri" pitchFamily="34" charset="-120"/>
              </a:rPr>
              <a:t>SVKM’s NMIMS MPSTME, Mumbai</a:t>
            </a:r>
            <a:endParaRPr lang="en-US" sz="1200" dirty="0"/>
          </a:p>
        </p:txBody>
      </p:sp>
      <p:sp>
        <p:nvSpPr>
          <p:cNvPr id="29" name="Text 27"/>
          <p:cNvSpPr txBox="1"/>
          <p:nvPr/>
        </p:nvSpPr>
        <p:spPr>
          <a:xfrm>
            <a:off x="548640" y="6400800"/>
            <a:ext cx="8229600" cy="274320"/>
          </a:xfrm>
          <a:prstGeom prst="rect">
            <a:avLst/>
          </a:prstGeom>
          <a:noFill/>
          <a:ln/>
        </p:spPr>
        <p:txBody>
          <a:bodyPr wrap="square" lIns="0" tIns="0" rIns="0" bIns="0" rtlCol="0" anchor="t"/>
          <a:lstStyle/>
          <a:p>
            <a:pPr indent="0" marL="0">
              <a:buNone/>
            </a:pPr>
            <a:r>
              <a:rPr lang="en-US" sz="1100" dirty="0">
                <a:solidFill>
                  <a:srgbClr val="9FB0C8"/>
                </a:solidFill>
                <a:latin typeface="Calibri" pitchFamily="34" charset="0"/>
                <a:ea typeface="Calibri" pitchFamily="34" charset="-122"/>
                <a:cs typeface="Calibri" pitchFamily="34" charset="-120"/>
              </a:rPr>
              <a:t>Source code and UML: </a:t>
            </a:r>
            <a:pPr indent="0" marL="0">
              <a:buNone/>
            </a:pPr>
            <a:r>
              <a:rPr lang="en-US" sz="1100" u="sng" dirty="0">
                <a:solidFill>
                  <a:schemeClr val="accent3"/>
                </a:solidFill>
                <a:latin typeface="Calibri" pitchFamily="34" charset="0"/>
                <a:ea typeface="Calibri" pitchFamily="34" charset="-122"/>
                <a:cs typeface="Calibri" pitchFamily="34" charset="-120"/>
                <a:hlinkClick r:id="rId1" invalidUrl="" action="" tgtFrame="" tooltip="Open the repository" history="1" highlightClick="0" endSnd="0">
                  <a:extLst>
                    <a:ext uri="{A12FA001-AC4F-418D-AE19-62706E023703}">
                      <ahyp:hlinkClr xmlns:ahyp="http://schemas.microsoft.com/office/drawing/2018/hyperlinkcolor" val="tx"/>
                    </a:ext>
                  </a:extLst>
                </a:hlinkClick>
              </a:rPr>
              <a:t>github.com/hiyashah18/InternshipManagementSystemOOP</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92608"/>
            <a:ext cx="10058400" cy="256032"/>
          </a:xfrm>
          <a:prstGeom prst="rect">
            <a:avLst/>
          </a:prstGeom>
          <a:noFill/>
          <a:ln/>
        </p:spPr>
        <p:txBody>
          <a:bodyPr wrap="square" lIns="0" tIns="0" rIns="0" bIns="0" rtlCol="0" anchor="t"/>
          <a:lstStyle/>
          <a:p>
            <a:pPr indent="0" marL="0">
              <a:buNone/>
            </a:pPr>
            <a:r>
              <a:rPr lang="en-US" sz="1200" b="1" spc="300" kern="0" dirty="0">
                <a:solidFill>
                  <a:schemeClr val="accent1"/>
                </a:solidFill>
                <a:latin typeface="Calibri" pitchFamily="34" charset="0"/>
                <a:ea typeface="Calibri" pitchFamily="34" charset="-122"/>
                <a:cs typeface="Calibri" pitchFamily="34" charset="-120"/>
              </a:rPr>
              <a:t>THE PROBLEM</a:t>
            </a:r>
            <a:endParaRPr lang="en-US" sz="1200" dirty="0"/>
          </a:p>
        </p:txBody>
      </p:sp>
      <p:sp>
        <p:nvSpPr>
          <p:cNvPr id="3" name="Text 0"/>
          <p:cNvSpPr/>
          <p:nvPr>
            <p:ph idx="100"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3400" b="1" dirty="0">
                <a:solidFill>
                  <a:schemeClr val="tx1"/>
                </a:solidFill>
                <a:latin typeface="Calibri" pitchFamily="34" charset="0"/>
                <a:ea typeface="Calibri" pitchFamily="34" charset="-122"/>
                <a:cs typeface="Calibri" pitchFamily="34" charset="-120"/>
              </a:rPr>
              <a:t>One shared record for every internship</a:t>
            </a:r>
            <a:endParaRPr lang="en-US" sz="3400" dirty="0"/>
          </a:p>
        </p:txBody>
      </p:sp>
      <p:sp>
        <p:nvSpPr>
          <p:cNvPr id="4" name="Text 2"/>
          <p:cNvSpPr txBox="1"/>
          <p:nvPr/>
        </p:nvSpPr>
        <p:spPr>
          <a:xfrm>
            <a:off x="548640" y="1600200"/>
            <a:ext cx="6309360" cy="2560320"/>
          </a:xfrm>
          <a:prstGeom prst="rect">
            <a:avLst/>
          </a:prstGeom>
          <a:noFill/>
          <a:ln/>
        </p:spPr>
        <p:txBody>
          <a:bodyPr wrap="square" lIns="0" tIns="0" rIns="0" bIns="0" rtlCol="0" anchor="t"/>
          <a:lstStyle/>
          <a:p>
            <a:pPr indent="0" marL="0">
              <a:lnSpc>
                <a:spcPct val="110000"/>
              </a:lnSpc>
              <a:buNone/>
            </a:pPr>
            <a:r>
              <a:rPr lang="en-US" sz="1600" dirty="0">
                <a:solidFill>
                  <a:srgbClr val="2B2B2B"/>
                </a:solidFill>
                <a:latin typeface="Calibri" pitchFamily="34" charset="0"/>
                <a:ea typeface="Calibri" pitchFamily="34" charset="-122"/>
                <a:cs typeface="Calibri" pitchFamily="34" charset="-120"/>
              </a:rPr>
              <a:t>Internship placement is often run through </a:t>
            </a:r>
            <a:pPr indent="0" marL="0">
              <a:lnSpc>
                <a:spcPct val="110000"/>
              </a:lnSpc>
              <a:buNone/>
            </a:pPr>
            <a:r>
              <a:rPr lang="en-US" sz="1600" b="1" dirty="0">
                <a:solidFill>
                  <a:srgbClr val="2B2B2B"/>
                </a:solidFill>
                <a:latin typeface="Calibri" pitchFamily="34" charset="0"/>
                <a:ea typeface="Calibri" pitchFamily="34" charset="-122"/>
                <a:cs typeface="Calibri" pitchFamily="34" charset="-120"/>
              </a:rPr>
              <a:t>e-mail threads, spreadsheets and notice boards</a:t>
            </a:r>
            <a:pPr indent="0" marL="0">
              <a:lnSpc>
                <a:spcPct val="110000"/>
              </a:lnSpc>
              <a:buNone/>
            </a:pPr>
            <a:r>
              <a:rPr lang="en-US" sz="1600" dirty="0">
                <a:solidFill>
                  <a:srgbClr val="2B2B2B"/>
                </a:solidFill>
                <a:latin typeface="Calibri" pitchFamily="34" charset="0"/>
                <a:ea typeface="Calibri" pitchFamily="34" charset="-122"/>
                <a:cs typeface="Calibri" pitchFamily="34" charset="-120"/>
              </a:rPr>
              <a:t>. A student misses an opening because it was posted in a different chat group. A company loses track of who was shortlisted. A coordinator cannot say how many students applied.</a:t>
            </a:r>
            <a:endParaRPr lang="en-US" sz="1600" dirty="0"/>
          </a:p>
          <a:p>
            <a:pPr indent="0" marL="0">
              <a:lnSpc>
                <a:spcPct val="110000"/>
              </a:lnSpc>
              <a:buNone/>
            </a:pPr>
            <a:r>
              <a:rPr lang="en-US" sz="800" dirty="0">
                <a:solidFill>
                  <a:srgbClr val="2B2B2B"/>
                </a:solidFill>
                <a:latin typeface="Calibri" pitchFamily="34" charset="0"/>
                <a:ea typeface="Calibri" pitchFamily="34" charset="-122"/>
                <a:cs typeface="Calibri" pitchFamily="34" charset="-120"/>
              </a:rPr>
              <a:t> </a:t>
            </a:r>
            <a:endParaRPr lang="en-US" sz="1600" dirty="0"/>
          </a:p>
          <a:p>
            <a:pPr indent="0" marL="0">
              <a:lnSpc>
                <a:spcPct val="110000"/>
              </a:lnSpc>
              <a:buNone/>
            </a:pPr>
            <a:r>
              <a:rPr lang="en-US" sz="1600" dirty="0">
                <a:solidFill>
                  <a:srgbClr val="2B2B2B"/>
                </a:solidFill>
                <a:latin typeface="Calibri" pitchFamily="34" charset="0"/>
                <a:ea typeface="Calibri" pitchFamily="34" charset="-122"/>
                <a:cs typeface="Calibri" pitchFamily="34" charset="-120"/>
              </a:rPr>
              <a:t>The same student can apply to the same posting twice, or to one that </a:t>
            </a:r>
            <a:pPr indent="0" marL="0">
              <a:lnSpc>
                <a:spcPct val="110000"/>
              </a:lnSpc>
              <a:buNone/>
            </a:pPr>
            <a:r>
              <a:rPr lang="en-US" sz="1600" b="1" dirty="0">
                <a:solidFill>
                  <a:srgbClr val="2B2B2B"/>
                </a:solidFill>
                <a:latin typeface="Calibri" pitchFamily="34" charset="0"/>
                <a:ea typeface="Calibri" pitchFamily="34" charset="-122"/>
                <a:cs typeface="Calibri" pitchFamily="34" charset="-120"/>
              </a:rPr>
              <a:t>closed last week</a:t>
            </a:r>
            <a:pPr indent="0" marL="0">
              <a:lnSpc>
                <a:spcPct val="110000"/>
              </a:lnSpc>
              <a:buNone/>
            </a:pPr>
            <a:r>
              <a:rPr lang="en-US" sz="1600" dirty="0">
                <a:solidFill>
                  <a:srgbClr val="2B2B2B"/>
                </a:solidFill>
                <a:latin typeface="Calibri" pitchFamily="34" charset="0"/>
                <a:ea typeface="Calibri" pitchFamily="34" charset="-122"/>
                <a:cs typeface="Calibri" pitchFamily="34" charset="-120"/>
              </a:rPr>
              <a:t>, and nobody finds out. One shared record that everyone reads and updates removes most of this.</a:t>
            </a:r>
            <a:endParaRPr lang="en-US" sz="1600" dirty="0"/>
          </a:p>
        </p:txBody>
      </p:sp>
      <p:sp>
        <p:nvSpPr>
          <p:cNvPr id="5" name="Shape 3"/>
          <p:cNvSpPr/>
          <p:nvPr/>
        </p:nvSpPr>
        <p:spPr>
          <a:xfrm>
            <a:off x="7406640" y="1554480"/>
            <a:ext cx="4206240" cy="1325880"/>
          </a:xfrm>
          <a:prstGeom prst="rect">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6" name="Text 4"/>
          <p:cNvSpPr txBox="1"/>
          <p:nvPr/>
        </p:nvSpPr>
        <p:spPr>
          <a:xfrm>
            <a:off x="7635240" y="1664208"/>
            <a:ext cx="3749040" cy="640080"/>
          </a:xfrm>
          <a:prstGeom prst="rect">
            <a:avLst/>
          </a:prstGeom>
          <a:noFill/>
          <a:ln/>
        </p:spPr>
        <p:txBody>
          <a:bodyPr wrap="square" lIns="0" tIns="0" rIns="0" bIns="0" rtlCol="0" anchor="t"/>
          <a:lstStyle/>
          <a:p>
            <a:pPr indent="0" marL="0">
              <a:buNone/>
            </a:pPr>
            <a:r>
              <a:rPr lang="en-US" sz="3600" b="1" dirty="0">
                <a:solidFill>
                  <a:schemeClr val="tx1"/>
                </a:solidFill>
                <a:latin typeface="Calibri" pitchFamily="34" charset="0"/>
                <a:ea typeface="Calibri" pitchFamily="34" charset="-122"/>
                <a:cs typeface="Calibri" pitchFamily="34" charset="-120"/>
              </a:rPr>
              <a:t>3 user roles</a:t>
            </a:r>
            <a:endParaRPr lang="en-US" sz="3600" dirty="0"/>
          </a:p>
        </p:txBody>
      </p:sp>
      <p:sp>
        <p:nvSpPr>
          <p:cNvPr id="7" name="Text 5"/>
          <p:cNvSpPr txBox="1"/>
          <p:nvPr/>
        </p:nvSpPr>
        <p:spPr>
          <a:xfrm>
            <a:off x="7635240" y="2304288"/>
            <a:ext cx="3749040" cy="502920"/>
          </a:xfrm>
          <a:prstGeom prst="rect">
            <a:avLst/>
          </a:prstGeom>
          <a:noFill/>
          <a:ln/>
        </p:spPr>
        <p:txBody>
          <a:bodyPr wrap="square" lIns="0" tIns="0" rIns="0" bIns="0" rtlCol="0" anchor="t"/>
          <a:lstStyle/>
          <a:p>
            <a:pPr indent="0" marL="0">
              <a:buNone/>
            </a:pPr>
            <a:r>
              <a:rPr lang="en-US" sz="1400" dirty="0">
                <a:solidFill>
                  <a:srgbClr val="6B665A"/>
                </a:solidFill>
                <a:latin typeface="Calibri" pitchFamily="34" charset="0"/>
                <a:ea typeface="Calibri" pitchFamily="34" charset="-122"/>
                <a:cs typeface="Calibri" pitchFamily="34" charset="-120"/>
              </a:rPr>
              <a:t>student, company representative and administrator</a:t>
            </a:r>
            <a:endParaRPr lang="en-US" sz="1400" dirty="0"/>
          </a:p>
        </p:txBody>
      </p:sp>
      <p:sp>
        <p:nvSpPr>
          <p:cNvPr id="8" name="Shape 6"/>
          <p:cNvSpPr/>
          <p:nvPr/>
        </p:nvSpPr>
        <p:spPr>
          <a:xfrm>
            <a:off x="7406640" y="3017520"/>
            <a:ext cx="4206240" cy="1325880"/>
          </a:xfrm>
          <a:prstGeom prst="rect">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9" name="Text 7"/>
          <p:cNvSpPr txBox="1"/>
          <p:nvPr/>
        </p:nvSpPr>
        <p:spPr>
          <a:xfrm>
            <a:off x="7635240" y="3127248"/>
            <a:ext cx="3749040" cy="640080"/>
          </a:xfrm>
          <a:prstGeom prst="rect">
            <a:avLst/>
          </a:prstGeom>
          <a:noFill/>
          <a:ln/>
        </p:spPr>
        <p:txBody>
          <a:bodyPr wrap="square" lIns="0" tIns="0" rIns="0" bIns="0" rtlCol="0" anchor="t"/>
          <a:lstStyle/>
          <a:p>
            <a:pPr indent="0" marL="0">
              <a:buNone/>
            </a:pPr>
            <a:r>
              <a:rPr lang="en-US" sz="3600" b="1" dirty="0">
                <a:solidFill>
                  <a:schemeClr val="tx1"/>
                </a:solidFill>
                <a:latin typeface="Calibri" pitchFamily="34" charset="0"/>
                <a:ea typeface="Calibri" pitchFamily="34" charset="-122"/>
                <a:cs typeface="Calibri" pitchFamily="34" charset="-120"/>
              </a:rPr>
              <a:t>5 internships</a:t>
            </a:r>
            <a:endParaRPr lang="en-US" sz="3600" dirty="0"/>
          </a:p>
        </p:txBody>
      </p:sp>
      <p:sp>
        <p:nvSpPr>
          <p:cNvPr id="10" name="Text 8"/>
          <p:cNvSpPr txBox="1"/>
          <p:nvPr/>
        </p:nvSpPr>
        <p:spPr>
          <a:xfrm>
            <a:off x="7635240" y="3767328"/>
            <a:ext cx="3749040" cy="502920"/>
          </a:xfrm>
          <a:prstGeom prst="rect">
            <a:avLst/>
          </a:prstGeom>
          <a:noFill/>
          <a:ln/>
        </p:spPr>
        <p:txBody>
          <a:bodyPr wrap="square" lIns="0" tIns="0" rIns="0" bIns="0" rtlCol="0" anchor="t"/>
          <a:lstStyle/>
          <a:p>
            <a:pPr indent="0" marL="0">
              <a:buNone/>
            </a:pPr>
            <a:r>
              <a:rPr lang="en-US" sz="1400" dirty="0">
                <a:solidFill>
                  <a:srgbClr val="6B665A"/>
                </a:solidFill>
                <a:latin typeface="Calibri" pitchFamily="34" charset="0"/>
                <a:ea typeface="Calibri" pitchFamily="34" charset="-122"/>
                <a:cs typeface="Calibri" pitchFamily="34" charset="-120"/>
              </a:rPr>
              <a:t>with 6 users, 2 companies and 1 application in the sample data</a:t>
            </a:r>
            <a:endParaRPr lang="en-US" sz="1400" dirty="0"/>
          </a:p>
        </p:txBody>
      </p:sp>
      <p:sp>
        <p:nvSpPr>
          <p:cNvPr id="11" name="Text 9"/>
          <p:cNvSpPr txBox="1"/>
          <p:nvPr/>
        </p:nvSpPr>
        <p:spPr>
          <a:xfrm>
            <a:off x="548640" y="4434840"/>
            <a:ext cx="5943600" cy="365760"/>
          </a:xfrm>
          <a:prstGeom prst="rect">
            <a:avLst/>
          </a:prstGeom>
          <a:noFill/>
          <a:ln/>
        </p:spPr>
        <p:txBody>
          <a:bodyPr wrap="square" lIns="0" tIns="0" rIns="0" bIns="0" rtlCol="0" anchor="t"/>
          <a:lstStyle/>
          <a:p>
            <a:pPr indent="0" marL="0">
              <a:buNone/>
            </a:pPr>
            <a:r>
              <a:rPr lang="en-US" sz="1800" b="1" dirty="0">
                <a:solidFill>
                  <a:schemeClr val="accent1"/>
                </a:solidFill>
                <a:latin typeface="Calibri" pitchFamily="34" charset="0"/>
                <a:ea typeface="Calibri" pitchFamily="34" charset="-122"/>
                <a:cs typeface="Calibri" pitchFamily="34" charset="-120"/>
              </a:rPr>
              <a:t>Our question:</a:t>
            </a:r>
            <a:endParaRPr lang="en-US" sz="1800" dirty="0"/>
          </a:p>
        </p:txBody>
      </p:sp>
      <p:sp>
        <p:nvSpPr>
          <p:cNvPr id="12" name="Text 10"/>
          <p:cNvSpPr txBox="1"/>
          <p:nvPr/>
        </p:nvSpPr>
        <p:spPr>
          <a:xfrm>
            <a:off x="548640" y="4892040"/>
            <a:ext cx="6583680" cy="822960"/>
          </a:xfrm>
          <a:prstGeom prst="rect">
            <a:avLst/>
          </a:prstGeom>
          <a:noFill/>
          <a:ln/>
        </p:spPr>
        <p:txBody>
          <a:bodyPr wrap="square" lIns="0" tIns="0" rIns="0" bIns="0" rtlCol="0" anchor="t"/>
          <a:lstStyle/>
          <a:p>
            <a:pPr indent="0" marL="0">
              <a:buNone/>
            </a:pPr>
            <a:r>
              <a:rPr lang="en-US" sz="2000" b="1" dirty="0">
                <a:solidFill>
                  <a:schemeClr val="accent1"/>
                </a:solidFill>
                <a:latin typeface="Calibri" pitchFamily="34" charset="0"/>
                <a:ea typeface="Calibri" pitchFamily="34" charset="-122"/>
                <a:cs typeface="Calibri" pitchFamily="34" charset="-120"/>
              </a:rPr>
              <a:t>Can one plain-Java system give students, companies and the administrator the same trustworthy record?</a:t>
            </a:r>
            <a:endParaRPr lang="en-US" sz="2000" dirty="0"/>
          </a:p>
        </p:txBody>
      </p:sp>
      <p:sp>
        <p:nvSpPr>
          <p:cNvPr id="13" name="Text 11"/>
          <p:cNvSpPr txBox="1"/>
          <p:nvPr/>
        </p:nvSpPr>
        <p:spPr>
          <a:xfrm>
            <a:off x="548640" y="6400800"/>
            <a:ext cx="9875520" cy="274320"/>
          </a:xfrm>
          <a:prstGeom prst="rect">
            <a:avLst/>
          </a:prstGeom>
          <a:noFill/>
          <a:ln/>
        </p:spPr>
        <p:txBody>
          <a:bodyPr wrap="square" lIns="0" tIns="0" rIns="0" bIns="0" rtlCol="0" anchor="t"/>
          <a:lstStyle/>
          <a:p>
            <a:pPr indent="0" marL="0">
              <a:buNone/>
            </a:pPr>
            <a:r>
              <a:rPr lang="en-US" sz="1000" dirty="0">
                <a:solidFill>
                  <a:srgbClr val="6B665A"/>
                </a:solidFill>
                <a:latin typeface="Calibri" pitchFamily="34" charset="0"/>
                <a:ea typeface="Calibri" pitchFamily="34" charset="-122"/>
                <a:cs typeface="Calibri" pitchFamily="34" charset="-120"/>
              </a:rPr>
              <a:t>Source: report, Section I and Table III · the sample data is fictional</a:t>
            </a:r>
            <a:endParaRPr lang="en-US" sz="1000" dirty="0"/>
          </a:p>
        </p:txBody>
      </p:sp>
      <p:sp>
        <p:nvSpPr>
          <p:cNvPr id="25" name="Slide Number Placeholder 0"/>
          <p:cNvSpPr>
            <a:spLocks noGrp="1"/>
          </p:cNvSpPr>
          <p:nvPr>
            <p:ph type="sldNum" sz="quarter" idx="4294967295"/>
          </p:nvPr>
        </p:nvSpPr>
        <p:spPr>
          <a:xfrm>
            <a:off x="10698480" y="6400800"/>
            <a:ext cx="94183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65A"/>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292608"/>
            <a:ext cx="10058400" cy="256032"/>
          </a:xfrm>
          <a:prstGeom prst="rect">
            <a:avLst/>
          </a:prstGeom>
          <a:noFill/>
          <a:ln/>
        </p:spPr>
        <p:txBody>
          <a:bodyPr wrap="square" lIns="0" tIns="0" rIns="0" bIns="0" rtlCol="0" anchor="t"/>
          <a:lstStyle/>
          <a:p>
            <a:pPr indent="0" marL="0">
              <a:buNone/>
            </a:pPr>
            <a:r>
              <a:rPr lang="en-US" sz="1200" b="1" spc="300" kern="0" dirty="0">
                <a:solidFill>
                  <a:schemeClr val="accent1"/>
                </a:solidFill>
                <a:latin typeface="Calibri" pitchFamily="34" charset="0"/>
                <a:ea typeface="Calibri" pitchFamily="34" charset="-122"/>
                <a:cs typeface="Calibri" pitchFamily="34" charset="-120"/>
              </a:rPr>
              <a:t>THE SOLUTION</a:t>
            </a:r>
            <a:endParaRPr lang="en-US" sz="1200" dirty="0"/>
          </a:p>
        </p:txBody>
      </p:sp>
      <p:sp>
        <p:nvSpPr>
          <p:cNvPr id="3" name="Text 0"/>
          <p:cNvSpPr/>
          <p:nvPr>
            <p:ph idx="100"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3400" b="1" dirty="0">
                <a:solidFill>
                  <a:schemeClr val="tx1"/>
                </a:solidFill>
                <a:latin typeface="Calibri" pitchFamily="34" charset="0"/>
                <a:ea typeface="Calibri" pitchFamily="34" charset="-122"/>
                <a:cs typeface="Calibri" pitchFamily="34" charset="-120"/>
              </a:rPr>
              <a:t>One application, six steps</a:t>
            </a:r>
            <a:endParaRPr lang="en-US" sz="3400" dirty="0"/>
          </a:p>
        </p:txBody>
      </p:sp>
      <p:sp>
        <p:nvSpPr>
          <p:cNvPr id="4" name="Shape 2"/>
          <p:cNvSpPr/>
          <p:nvPr/>
        </p:nvSpPr>
        <p:spPr>
          <a:xfrm>
            <a:off x="548640" y="1554480"/>
            <a:ext cx="3931920" cy="3246120"/>
          </a:xfrm>
          <a:prstGeom prst="rect">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5" name="Shape 3"/>
          <p:cNvSpPr/>
          <p:nvPr/>
        </p:nvSpPr>
        <p:spPr>
          <a:xfrm flipV="1">
            <a:off x="1371600" y="1920240"/>
            <a:ext cx="1463040" cy="182880"/>
          </a:xfrm>
          <a:prstGeom prst="line">
            <a:avLst/>
          </a:prstGeom>
          <a:noFill/>
          <a:ln w="9525">
            <a:solidFill>
              <a:srgbClr val="B9B4A8"/>
            </a:solidFill>
            <a:prstDash val="solid"/>
          </a:ln>
        </p:spPr>
      </p:sp>
      <p:sp>
        <p:nvSpPr>
          <p:cNvPr id="6" name="Shape 4"/>
          <p:cNvSpPr/>
          <p:nvPr/>
        </p:nvSpPr>
        <p:spPr>
          <a:xfrm>
            <a:off x="1371600" y="2103120"/>
            <a:ext cx="2560320" cy="731520"/>
          </a:xfrm>
          <a:prstGeom prst="line">
            <a:avLst/>
          </a:prstGeom>
          <a:noFill/>
          <a:ln w="9525">
            <a:solidFill>
              <a:srgbClr val="B9B4A8"/>
            </a:solidFill>
            <a:prstDash val="solid"/>
          </a:ln>
        </p:spPr>
      </p:sp>
      <p:sp>
        <p:nvSpPr>
          <p:cNvPr id="7" name="Shape 5"/>
          <p:cNvSpPr/>
          <p:nvPr/>
        </p:nvSpPr>
        <p:spPr>
          <a:xfrm>
            <a:off x="1371600" y="2103120"/>
            <a:ext cx="1920240" cy="1645920"/>
          </a:xfrm>
          <a:prstGeom prst="line">
            <a:avLst/>
          </a:prstGeom>
          <a:noFill/>
          <a:ln w="9525">
            <a:solidFill>
              <a:srgbClr val="B9B4A8"/>
            </a:solidFill>
            <a:prstDash val="solid"/>
          </a:ln>
        </p:spPr>
      </p:sp>
      <p:sp>
        <p:nvSpPr>
          <p:cNvPr id="8" name="Shape 6"/>
          <p:cNvSpPr/>
          <p:nvPr/>
        </p:nvSpPr>
        <p:spPr>
          <a:xfrm>
            <a:off x="1371600" y="2103120"/>
            <a:ext cx="365760" cy="1645920"/>
          </a:xfrm>
          <a:prstGeom prst="line">
            <a:avLst/>
          </a:prstGeom>
          <a:noFill/>
          <a:ln w="9525">
            <a:solidFill>
              <a:srgbClr val="B9B4A8"/>
            </a:solidFill>
            <a:prstDash val="solid"/>
          </a:ln>
        </p:spPr>
      </p:sp>
      <p:sp>
        <p:nvSpPr>
          <p:cNvPr id="9" name="Shape 7"/>
          <p:cNvSpPr/>
          <p:nvPr/>
        </p:nvSpPr>
        <p:spPr>
          <a:xfrm flipV="1">
            <a:off x="960120" y="2103120"/>
            <a:ext cx="411480" cy="822960"/>
          </a:xfrm>
          <a:prstGeom prst="line">
            <a:avLst/>
          </a:prstGeom>
          <a:noFill/>
          <a:ln w="9525">
            <a:solidFill>
              <a:srgbClr val="B9B4A8"/>
            </a:solidFill>
            <a:prstDash val="solid"/>
          </a:ln>
        </p:spPr>
      </p:sp>
      <p:sp>
        <p:nvSpPr>
          <p:cNvPr id="10" name="Shape 8"/>
          <p:cNvSpPr/>
          <p:nvPr/>
        </p:nvSpPr>
        <p:spPr>
          <a:xfrm>
            <a:off x="2834640" y="1920240"/>
            <a:ext cx="1097280" cy="914400"/>
          </a:xfrm>
          <a:prstGeom prst="line">
            <a:avLst/>
          </a:prstGeom>
          <a:noFill/>
          <a:ln w="9525">
            <a:solidFill>
              <a:srgbClr val="B9B4A8"/>
            </a:solidFill>
            <a:prstDash val="solid"/>
          </a:ln>
        </p:spPr>
      </p:sp>
      <p:sp>
        <p:nvSpPr>
          <p:cNvPr id="11" name="Shape 9"/>
          <p:cNvSpPr/>
          <p:nvPr/>
        </p:nvSpPr>
        <p:spPr>
          <a:xfrm>
            <a:off x="2834640" y="1920240"/>
            <a:ext cx="457200" cy="1828800"/>
          </a:xfrm>
          <a:prstGeom prst="line">
            <a:avLst/>
          </a:prstGeom>
          <a:noFill/>
          <a:ln w="9525">
            <a:solidFill>
              <a:srgbClr val="B9B4A8"/>
            </a:solidFill>
            <a:prstDash val="solid"/>
          </a:ln>
        </p:spPr>
      </p:sp>
      <p:sp>
        <p:nvSpPr>
          <p:cNvPr id="12" name="Shape 10"/>
          <p:cNvSpPr/>
          <p:nvPr/>
        </p:nvSpPr>
        <p:spPr>
          <a:xfrm flipV="1">
            <a:off x="1737360" y="1920240"/>
            <a:ext cx="1097280" cy="1828800"/>
          </a:xfrm>
          <a:prstGeom prst="line">
            <a:avLst/>
          </a:prstGeom>
          <a:noFill/>
          <a:ln w="9525">
            <a:solidFill>
              <a:srgbClr val="B9B4A8"/>
            </a:solidFill>
            <a:prstDash val="solid"/>
          </a:ln>
        </p:spPr>
      </p:sp>
      <p:sp>
        <p:nvSpPr>
          <p:cNvPr id="13" name="Shape 11"/>
          <p:cNvSpPr/>
          <p:nvPr/>
        </p:nvSpPr>
        <p:spPr>
          <a:xfrm flipV="1">
            <a:off x="960120" y="1920240"/>
            <a:ext cx="1874520" cy="1005840"/>
          </a:xfrm>
          <a:prstGeom prst="line">
            <a:avLst/>
          </a:prstGeom>
          <a:noFill/>
          <a:ln w="9525">
            <a:solidFill>
              <a:srgbClr val="B9B4A8"/>
            </a:solidFill>
            <a:prstDash val="solid"/>
          </a:ln>
        </p:spPr>
      </p:sp>
      <p:sp>
        <p:nvSpPr>
          <p:cNvPr id="14" name="Shape 12"/>
          <p:cNvSpPr/>
          <p:nvPr/>
        </p:nvSpPr>
        <p:spPr>
          <a:xfrm flipV="1">
            <a:off x="3291840" y="2834640"/>
            <a:ext cx="640080" cy="914400"/>
          </a:xfrm>
          <a:prstGeom prst="line">
            <a:avLst/>
          </a:prstGeom>
          <a:noFill/>
          <a:ln w="9525">
            <a:solidFill>
              <a:srgbClr val="B9B4A8"/>
            </a:solidFill>
            <a:prstDash val="solid"/>
          </a:ln>
        </p:spPr>
      </p:sp>
      <p:sp>
        <p:nvSpPr>
          <p:cNvPr id="15" name="Shape 13"/>
          <p:cNvSpPr/>
          <p:nvPr/>
        </p:nvSpPr>
        <p:spPr>
          <a:xfrm flipV="1">
            <a:off x="1737360" y="2834640"/>
            <a:ext cx="2194560" cy="914400"/>
          </a:xfrm>
          <a:prstGeom prst="line">
            <a:avLst/>
          </a:prstGeom>
          <a:noFill/>
          <a:ln w="9525">
            <a:solidFill>
              <a:srgbClr val="B9B4A8"/>
            </a:solidFill>
            <a:prstDash val="solid"/>
          </a:ln>
        </p:spPr>
      </p:sp>
      <p:sp>
        <p:nvSpPr>
          <p:cNvPr id="16" name="Shape 14"/>
          <p:cNvSpPr/>
          <p:nvPr/>
        </p:nvSpPr>
        <p:spPr>
          <a:xfrm flipV="1">
            <a:off x="960120" y="2834640"/>
            <a:ext cx="2971800" cy="91440"/>
          </a:xfrm>
          <a:prstGeom prst="line">
            <a:avLst/>
          </a:prstGeom>
          <a:noFill/>
          <a:ln w="9525">
            <a:solidFill>
              <a:srgbClr val="B9B4A8"/>
            </a:solidFill>
            <a:prstDash val="solid"/>
          </a:ln>
        </p:spPr>
      </p:sp>
      <p:sp>
        <p:nvSpPr>
          <p:cNvPr id="17" name="Shape 15"/>
          <p:cNvSpPr/>
          <p:nvPr/>
        </p:nvSpPr>
        <p:spPr>
          <a:xfrm>
            <a:off x="1737360" y="3749040"/>
            <a:ext cx="1554480" cy="0"/>
          </a:xfrm>
          <a:prstGeom prst="line">
            <a:avLst/>
          </a:prstGeom>
          <a:noFill/>
          <a:ln w="9525">
            <a:solidFill>
              <a:srgbClr val="B9B4A8"/>
            </a:solidFill>
            <a:prstDash val="solid"/>
          </a:ln>
        </p:spPr>
      </p:sp>
      <p:sp>
        <p:nvSpPr>
          <p:cNvPr id="18" name="Shape 16"/>
          <p:cNvSpPr/>
          <p:nvPr/>
        </p:nvSpPr>
        <p:spPr>
          <a:xfrm>
            <a:off x="960120" y="2926080"/>
            <a:ext cx="2331720" cy="822960"/>
          </a:xfrm>
          <a:prstGeom prst="line">
            <a:avLst/>
          </a:prstGeom>
          <a:noFill/>
          <a:ln w="9525">
            <a:solidFill>
              <a:srgbClr val="B9B4A8"/>
            </a:solidFill>
            <a:prstDash val="solid"/>
          </a:ln>
        </p:spPr>
      </p:sp>
      <p:sp>
        <p:nvSpPr>
          <p:cNvPr id="19" name="Shape 17"/>
          <p:cNvSpPr/>
          <p:nvPr/>
        </p:nvSpPr>
        <p:spPr>
          <a:xfrm>
            <a:off x="960120" y="2926080"/>
            <a:ext cx="777240" cy="822960"/>
          </a:xfrm>
          <a:prstGeom prst="line">
            <a:avLst/>
          </a:prstGeom>
          <a:noFill/>
          <a:ln w="9525">
            <a:solidFill>
              <a:srgbClr val="B9B4A8"/>
            </a:solidFill>
            <a:prstDash val="solid"/>
          </a:ln>
        </p:spPr>
      </p:sp>
      <p:sp>
        <p:nvSpPr>
          <p:cNvPr id="20" name="Mess node E-mail"/>
          <p:cNvSpPr/>
          <p:nvPr/>
        </p:nvSpPr>
        <p:spPr>
          <a:xfrm>
            <a:off x="1280160" y="2011680"/>
            <a:ext cx="182880" cy="182880"/>
          </a:xfrm>
          <a:prstGeom prst="ellipse">
            <a:avLst/>
          </a:prstGeom>
          <a:solidFill>
            <a:schemeClr val="accent4"/>
          </a:solidFill>
          <a:ln w="12700">
            <a:solidFill>
              <a:schemeClr val="accent4"/>
            </a:solidFill>
            <a:prstDash val="solid"/>
          </a:ln>
        </p:spPr>
      </p:sp>
      <p:sp>
        <p:nvSpPr>
          <p:cNvPr id="21" name="Mess node Chat"/>
          <p:cNvSpPr/>
          <p:nvPr/>
        </p:nvSpPr>
        <p:spPr>
          <a:xfrm>
            <a:off x="2743200" y="1828800"/>
            <a:ext cx="182880" cy="182880"/>
          </a:xfrm>
          <a:prstGeom prst="ellipse">
            <a:avLst/>
          </a:prstGeom>
          <a:solidFill>
            <a:schemeClr val="accent4"/>
          </a:solidFill>
          <a:ln w="12700">
            <a:solidFill>
              <a:schemeClr val="accent4"/>
            </a:solidFill>
            <a:prstDash val="solid"/>
          </a:ln>
        </p:spPr>
      </p:sp>
      <p:sp>
        <p:nvSpPr>
          <p:cNvPr id="22" name="Mess node Notice board"/>
          <p:cNvSpPr/>
          <p:nvPr/>
        </p:nvSpPr>
        <p:spPr>
          <a:xfrm>
            <a:off x="3840480" y="2743200"/>
            <a:ext cx="182880" cy="182880"/>
          </a:xfrm>
          <a:prstGeom prst="ellipse">
            <a:avLst/>
          </a:prstGeom>
          <a:solidFill>
            <a:schemeClr val="accent4"/>
          </a:solidFill>
          <a:ln w="12700">
            <a:solidFill>
              <a:schemeClr val="accent4"/>
            </a:solidFill>
            <a:prstDash val="solid"/>
          </a:ln>
        </p:spPr>
      </p:sp>
      <p:sp>
        <p:nvSpPr>
          <p:cNvPr id="23" name="Mess node Sheet"/>
          <p:cNvSpPr/>
          <p:nvPr/>
        </p:nvSpPr>
        <p:spPr>
          <a:xfrm>
            <a:off x="3200400" y="3657600"/>
            <a:ext cx="182880" cy="182880"/>
          </a:xfrm>
          <a:prstGeom prst="ellipse">
            <a:avLst/>
          </a:prstGeom>
          <a:solidFill>
            <a:schemeClr val="accent4"/>
          </a:solidFill>
          <a:ln w="12700">
            <a:solidFill>
              <a:schemeClr val="accent4"/>
            </a:solidFill>
            <a:prstDash val="solid"/>
          </a:ln>
        </p:spPr>
      </p:sp>
      <p:sp>
        <p:nvSpPr>
          <p:cNvPr id="24" name="Mess node Phone"/>
          <p:cNvSpPr/>
          <p:nvPr/>
        </p:nvSpPr>
        <p:spPr>
          <a:xfrm>
            <a:off x="1645920" y="3657600"/>
            <a:ext cx="182880" cy="182880"/>
          </a:xfrm>
          <a:prstGeom prst="ellipse">
            <a:avLst/>
          </a:prstGeom>
          <a:solidFill>
            <a:schemeClr val="accent4"/>
          </a:solidFill>
          <a:ln w="12700">
            <a:solidFill>
              <a:schemeClr val="accent4"/>
            </a:solidFill>
            <a:prstDash val="solid"/>
          </a:ln>
        </p:spPr>
      </p:sp>
      <p:sp>
        <p:nvSpPr>
          <p:cNvPr id="25" name="Mess node Paper"/>
          <p:cNvSpPr/>
          <p:nvPr/>
        </p:nvSpPr>
        <p:spPr>
          <a:xfrm>
            <a:off x="868680" y="2834640"/>
            <a:ext cx="182880" cy="182880"/>
          </a:xfrm>
          <a:prstGeom prst="ellipse">
            <a:avLst/>
          </a:prstGeom>
          <a:solidFill>
            <a:schemeClr val="accent4"/>
          </a:solidFill>
          <a:ln w="12700">
            <a:solidFill>
              <a:schemeClr val="accent4"/>
            </a:solidFill>
            <a:prstDash val="solid"/>
          </a:ln>
        </p:spPr>
      </p:sp>
      <p:sp>
        <p:nvSpPr>
          <p:cNvPr id="26" name="Text 24"/>
          <p:cNvSpPr txBox="1"/>
          <p:nvPr/>
        </p:nvSpPr>
        <p:spPr>
          <a:xfrm>
            <a:off x="731520" y="4069080"/>
            <a:ext cx="3566160" cy="27432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The obvious way</a:t>
            </a:r>
            <a:endParaRPr lang="en-US" sz="1600" dirty="0"/>
          </a:p>
        </p:txBody>
      </p:sp>
      <p:sp>
        <p:nvSpPr>
          <p:cNvPr id="27" name="Text 25"/>
          <p:cNvSpPr txBox="1"/>
          <p:nvPr/>
        </p:nvSpPr>
        <p:spPr>
          <a:xfrm>
            <a:off x="731520" y="4343400"/>
            <a:ext cx="3566160" cy="457200"/>
          </a:xfrm>
          <a:prstGeom prst="rect">
            <a:avLst/>
          </a:prstGeom>
          <a:noFill/>
          <a:ln/>
        </p:spPr>
        <p:txBody>
          <a:bodyPr wrap="square" lIns="0" tIns="0" rIns="0" bIns="0" rtlCol="0" anchor="t"/>
          <a:lstStyle/>
          <a:p>
            <a:pPr indent="0" marL="0">
              <a:buNone/>
            </a:pPr>
            <a:r>
              <a:rPr lang="en-US" sz="1200" dirty="0">
                <a:solidFill>
                  <a:srgbClr val="6B665A"/>
                </a:solidFill>
                <a:latin typeface="Calibri" pitchFamily="34" charset="0"/>
                <a:ea typeface="Calibri" pitchFamily="34" charset="-122"/>
                <a:cs typeface="Calibri" pitchFamily="34" charset="-120"/>
              </a:rPr>
              <a:t>Openings, applications and decisions are scattered over many channels. Nobody sees all of it.</a:t>
            </a:r>
            <a:endParaRPr lang="en-US" sz="1200" dirty="0"/>
          </a:p>
        </p:txBody>
      </p:sp>
      <p:sp>
        <p:nvSpPr>
          <p:cNvPr id="28" name="Shape 26"/>
          <p:cNvSpPr/>
          <p:nvPr/>
        </p:nvSpPr>
        <p:spPr>
          <a:xfrm>
            <a:off x="4663440" y="1554480"/>
            <a:ext cx="6976872" cy="3246120"/>
          </a:xfrm>
          <a:prstGeom prst="rect">
            <a:avLst/>
          </a:prstGeom>
          <a:solidFill>
            <a:schemeClr val="bg1"/>
          </a:solidFill>
          <a:ln w="25400">
            <a:solidFill>
              <a:schemeClr val="accent1"/>
            </a:solidFill>
            <a:prstDash val="solid"/>
          </a:ln>
          <a:effectLst>
            <a:outerShdw sx="100000" sy="100000" kx="0" ky="0" algn="bl" rotWithShape="0" blurRad="76200" dist="25400" dir="5400000">
              <a:srgbClr val="000000">
                <a:alpha val="12000"/>
              </a:srgbClr>
            </a:outerShdw>
          </a:effectLst>
        </p:spPr>
      </p:sp>
      <p:sp>
        <p:nvSpPr>
          <p:cNvPr id="29" name="Text 27"/>
          <p:cNvSpPr txBox="1"/>
          <p:nvPr/>
        </p:nvSpPr>
        <p:spPr>
          <a:xfrm>
            <a:off x="4892040" y="1691640"/>
            <a:ext cx="2743200" cy="32004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Our way</a:t>
            </a:r>
            <a:endParaRPr lang="en-US" sz="1800" dirty="0"/>
          </a:p>
        </p:txBody>
      </p:sp>
      <p:sp>
        <p:nvSpPr>
          <p:cNvPr id="30" name="Step badge 1"/>
          <p:cNvSpPr/>
          <p:nvPr/>
        </p:nvSpPr>
        <p:spPr>
          <a:xfrm>
            <a:off x="4892040" y="2194560"/>
            <a:ext cx="365760" cy="365760"/>
          </a:xfrm>
          <a:prstGeom prst="ellipse">
            <a:avLst/>
          </a:prstGeom>
          <a:solidFill>
            <a:schemeClr val="accent1"/>
          </a:solidFill>
          <a:ln w="12700">
            <a:solidFill>
              <a:schemeClr val="accent1"/>
            </a:solidFill>
            <a:prstDash val="solid"/>
          </a:ln>
        </p:spPr>
      </p:sp>
      <p:sp>
        <p:nvSpPr>
          <p:cNvPr id="31" name="Text 29"/>
          <p:cNvSpPr txBox="1"/>
          <p:nvPr/>
        </p:nvSpPr>
        <p:spPr>
          <a:xfrm>
            <a:off x="4892040" y="219456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1</a:t>
            </a:r>
            <a:endParaRPr lang="en-US" sz="1400" dirty="0"/>
          </a:p>
        </p:txBody>
      </p:sp>
      <p:sp>
        <p:nvSpPr>
          <p:cNvPr id="32" name="Text 30"/>
          <p:cNvSpPr txBox="1"/>
          <p:nvPr/>
        </p:nvSpPr>
        <p:spPr>
          <a:xfrm>
            <a:off x="5349240" y="2212848"/>
            <a:ext cx="1645920" cy="27432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Register</a:t>
            </a:r>
            <a:endParaRPr lang="en-US" sz="1500" dirty="0"/>
          </a:p>
        </p:txBody>
      </p:sp>
      <p:sp>
        <p:nvSpPr>
          <p:cNvPr id="33" name="Text 31"/>
          <p:cNvSpPr txBox="1"/>
          <p:nvPr/>
        </p:nvSpPr>
        <p:spPr>
          <a:xfrm>
            <a:off x="5349240" y="2505456"/>
            <a:ext cx="1691640" cy="731520"/>
          </a:xfrm>
          <a:prstGeom prst="rect">
            <a:avLst/>
          </a:prstGeom>
          <a:noFill/>
          <a:ln/>
        </p:spPr>
        <p:txBody>
          <a:bodyPr wrap="square" lIns="0" tIns="0" rIns="0" bIns="0" rtlCol="0" anchor="t"/>
          <a:lstStyle/>
          <a:p>
            <a:pPr indent="0" marL="0">
              <a:buNone/>
            </a:pPr>
            <a:r>
              <a:rPr lang="en-US" sz="1200" dirty="0">
                <a:solidFill>
                  <a:srgbClr val="6B665A"/>
                </a:solidFill>
                <a:latin typeface="Calibri" pitchFamily="34" charset="0"/>
                <a:ea typeface="Calibri" pitchFamily="34" charset="-122"/>
                <a:cs typeface="Calibri" pitchFamily="34" charset="-120"/>
              </a:rPr>
              <a:t>Student or company creates an account</a:t>
            </a:r>
            <a:endParaRPr lang="en-US" sz="1200" dirty="0"/>
          </a:p>
        </p:txBody>
      </p:sp>
      <p:sp>
        <p:nvSpPr>
          <p:cNvPr id="34" name="Step badge 2"/>
          <p:cNvSpPr/>
          <p:nvPr/>
        </p:nvSpPr>
        <p:spPr>
          <a:xfrm>
            <a:off x="7132320" y="2194560"/>
            <a:ext cx="365760" cy="365760"/>
          </a:xfrm>
          <a:prstGeom prst="ellipse">
            <a:avLst/>
          </a:prstGeom>
          <a:solidFill>
            <a:schemeClr val="accent1"/>
          </a:solidFill>
          <a:ln w="12700">
            <a:solidFill>
              <a:schemeClr val="accent1"/>
            </a:solidFill>
            <a:prstDash val="solid"/>
          </a:ln>
        </p:spPr>
      </p:sp>
      <p:sp>
        <p:nvSpPr>
          <p:cNvPr id="35" name="Text 33"/>
          <p:cNvSpPr txBox="1"/>
          <p:nvPr/>
        </p:nvSpPr>
        <p:spPr>
          <a:xfrm>
            <a:off x="7132320" y="219456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2</a:t>
            </a:r>
            <a:endParaRPr lang="en-US" sz="1400" dirty="0"/>
          </a:p>
        </p:txBody>
      </p:sp>
      <p:sp>
        <p:nvSpPr>
          <p:cNvPr id="36" name="Text 34"/>
          <p:cNvSpPr txBox="1"/>
          <p:nvPr/>
        </p:nvSpPr>
        <p:spPr>
          <a:xfrm>
            <a:off x="7589520" y="2212848"/>
            <a:ext cx="1645920" cy="27432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Post</a:t>
            </a:r>
            <a:endParaRPr lang="en-US" sz="1500" dirty="0"/>
          </a:p>
        </p:txBody>
      </p:sp>
      <p:sp>
        <p:nvSpPr>
          <p:cNvPr id="37" name="Text 35"/>
          <p:cNvSpPr txBox="1"/>
          <p:nvPr/>
        </p:nvSpPr>
        <p:spPr>
          <a:xfrm>
            <a:off x="7589520" y="2505456"/>
            <a:ext cx="1691640" cy="731520"/>
          </a:xfrm>
          <a:prstGeom prst="rect">
            <a:avLst/>
          </a:prstGeom>
          <a:noFill/>
          <a:ln/>
        </p:spPr>
        <p:txBody>
          <a:bodyPr wrap="square" lIns="0" tIns="0" rIns="0" bIns="0" rtlCol="0" anchor="t"/>
          <a:lstStyle/>
          <a:p>
            <a:pPr indent="0" marL="0">
              <a:buNone/>
            </a:pPr>
            <a:r>
              <a:rPr lang="en-US" sz="1200" dirty="0">
                <a:solidFill>
                  <a:srgbClr val="6B665A"/>
                </a:solidFill>
                <a:latin typeface="Calibri" pitchFamily="34" charset="0"/>
                <a:ea typeface="Calibri" pitchFamily="34" charset="-122"/>
                <a:cs typeface="Calibri" pitchFamily="34" charset="-120"/>
              </a:rPr>
              <a:t>A company posts an internship</a:t>
            </a:r>
            <a:endParaRPr lang="en-US" sz="1200" dirty="0"/>
          </a:p>
        </p:txBody>
      </p:sp>
      <p:sp>
        <p:nvSpPr>
          <p:cNvPr id="38" name="Step badge 3"/>
          <p:cNvSpPr/>
          <p:nvPr/>
        </p:nvSpPr>
        <p:spPr>
          <a:xfrm>
            <a:off x="9372600" y="2194560"/>
            <a:ext cx="365760" cy="365760"/>
          </a:xfrm>
          <a:prstGeom prst="ellipse">
            <a:avLst/>
          </a:prstGeom>
          <a:solidFill>
            <a:schemeClr val="accent1"/>
          </a:solidFill>
          <a:ln w="12700">
            <a:solidFill>
              <a:schemeClr val="accent1"/>
            </a:solidFill>
            <a:prstDash val="solid"/>
          </a:ln>
        </p:spPr>
      </p:sp>
      <p:sp>
        <p:nvSpPr>
          <p:cNvPr id="39" name="Text 37"/>
          <p:cNvSpPr txBox="1"/>
          <p:nvPr/>
        </p:nvSpPr>
        <p:spPr>
          <a:xfrm>
            <a:off x="9372600" y="219456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3</a:t>
            </a:r>
            <a:endParaRPr lang="en-US" sz="1400" dirty="0"/>
          </a:p>
        </p:txBody>
      </p:sp>
      <p:sp>
        <p:nvSpPr>
          <p:cNvPr id="40" name="Text 38"/>
          <p:cNvSpPr txBox="1"/>
          <p:nvPr/>
        </p:nvSpPr>
        <p:spPr>
          <a:xfrm>
            <a:off x="9829800" y="2212848"/>
            <a:ext cx="1645920" cy="27432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Search</a:t>
            </a:r>
            <a:endParaRPr lang="en-US" sz="1500" dirty="0"/>
          </a:p>
        </p:txBody>
      </p:sp>
      <p:sp>
        <p:nvSpPr>
          <p:cNvPr id="41" name="Text 39"/>
          <p:cNvSpPr txBox="1"/>
          <p:nvPr/>
        </p:nvSpPr>
        <p:spPr>
          <a:xfrm>
            <a:off x="9829800" y="2505456"/>
            <a:ext cx="1691640" cy="731520"/>
          </a:xfrm>
          <a:prstGeom prst="rect">
            <a:avLst/>
          </a:prstGeom>
          <a:noFill/>
          <a:ln/>
        </p:spPr>
        <p:txBody>
          <a:bodyPr wrap="square" lIns="0" tIns="0" rIns="0" bIns="0" rtlCol="0" anchor="t"/>
          <a:lstStyle/>
          <a:p>
            <a:pPr indent="0" marL="0">
              <a:buNone/>
            </a:pPr>
            <a:r>
              <a:rPr lang="en-US" sz="1200" dirty="0">
                <a:solidFill>
                  <a:srgbClr val="6B665A"/>
                </a:solidFill>
                <a:latin typeface="Calibri" pitchFamily="34" charset="0"/>
                <a:ea typeface="Calibri" pitchFamily="34" charset="-122"/>
                <a:cs typeface="Calibri" pitchFamily="34" charset="-120"/>
              </a:rPr>
              <a:t>A student filters by keyword and location</a:t>
            </a:r>
            <a:endParaRPr lang="en-US" sz="1200" dirty="0"/>
          </a:p>
        </p:txBody>
      </p:sp>
      <p:sp>
        <p:nvSpPr>
          <p:cNvPr id="42" name="Step badge 4"/>
          <p:cNvSpPr/>
          <p:nvPr/>
        </p:nvSpPr>
        <p:spPr>
          <a:xfrm>
            <a:off x="4892040" y="3474720"/>
            <a:ext cx="365760" cy="365760"/>
          </a:xfrm>
          <a:prstGeom prst="ellipse">
            <a:avLst/>
          </a:prstGeom>
          <a:solidFill>
            <a:schemeClr val="accent1"/>
          </a:solidFill>
          <a:ln w="12700">
            <a:solidFill>
              <a:schemeClr val="accent1"/>
            </a:solidFill>
            <a:prstDash val="solid"/>
          </a:ln>
        </p:spPr>
      </p:sp>
      <p:sp>
        <p:nvSpPr>
          <p:cNvPr id="43" name="Text 41"/>
          <p:cNvSpPr txBox="1"/>
          <p:nvPr/>
        </p:nvSpPr>
        <p:spPr>
          <a:xfrm>
            <a:off x="4892040" y="347472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4</a:t>
            </a:r>
            <a:endParaRPr lang="en-US" sz="1400" dirty="0"/>
          </a:p>
        </p:txBody>
      </p:sp>
      <p:sp>
        <p:nvSpPr>
          <p:cNvPr id="44" name="Text 42"/>
          <p:cNvSpPr txBox="1"/>
          <p:nvPr/>
        </p:nvSpPr>
        <p:spPr>
          <a:xfrm>
            <a:off x="5349240" y="3493008"/>
            <a:ext cx="1645920" cy="27432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Apply</a:t>
            </a:r>
            <a:endParaRPr lang="en-US" sz="1500" dirty="0"/>
          </a:p>
        </p:txBody>
      </p:sp>
      <p:sp>
        <p:nvSpPr>
          <p:cNvPr id="45" name="Text 43"/>
          <p:cNvSpPr txBox="1"/>
          <p:nvPr/>
        </p:nvSpPr>
        <p:spPr>
          <a:xfrm>
            <a:off x="5349240" y="3785616"/>
            <a:ext cx="1691640" cy="731520"/>
          </a:xfrm>
          <a:prstGeom prst="rect">
            <a:avLst/>
          </a:prstGeom>
          <a:noFill/>
          <a:ln/>
        </p:spPr>
        <p:txBody>
          <a:bodyPr wrap="square" lIns="0" tIns="0" rIns="0" bIns="0" rtlCol="0" anchor="t"/>
          <a:lstStyle/>
          <a:p>
            <a:pPr indent="0" marL="0">
              <a:buNone/>
            </a:pPr>
            <a:r>
              <a:rPr lang="en-US" sz="1200" dirty="0">
                <a:solidFill>
                  <a:srgbClr val="6B665A"/>
                </a:solidFill>
                <a:latin typeface="Calibri" pitchFamily="34" charset="0"/>
                <a:ea typeface="Calibri" pitchFamily="34" charset="-122"/>
                <a:cs typeface="Calibri" pitchFamily="34" charset="-120"/>
              </a:rPr>
              <a:t>One application per posting; closed ones are blocked</a:t>
            </a:r>
            <a:endParaRPr lang="en-US" sz="1200" dirty="0"/>
          </a:p>
        </p:txBody>
      </p:sp>
      <p:sp>
        <p:nvSpPr>
          <p:cNvPr id="46" name="Step badge 5"/>
          <p:cNvSpPr/>
          <p:nvPr/>
        </p:nvSpPr>
        <p:spPr>
          <a:xfrm>
            <a:off x="7132320" y="3474720"/>
            <a:ext cx="365760" cy="365760"/>
          </a:xfrm>
          <a:prstGeom prst="ellipse">
            <a:avLst/>
          </a:prstGeom>
          <a:solidFill>
            <a:schemeClr val="accent1"/>
          </a:solidFill>
          <a:ln w="12700">
            <a:solidFill>
              <a:schemeClr val="accent1"/>
            </a:solidFill>
            <a:prstDash val="solid"/>
          </a:ln>
        </p:spPr>
      </p:sp>
      <p:sp>
        <p:nvSpPr>
          <p:cNvPr id="47" name="Text 45"/>
          <p:cNvSpPr txBox="1"/>
          <p:nvPr/>
        </p:nvSpPr>
        <p:spPr>
          <a:xfrm>
            <a:off x="7132320" y="347472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5</a:t>
            </a:r>
            <a:endParaRPr lang="en-US" sz="1400" dirty="0"/>
          </a:p>
        </p:txBody>
      </p:sp>
      <p:sp>
        <p:nvSpPr>
          <p:cNvPr id="48" name="Text 46"/>
          <p:cNvSpPr txBox="1"/>
          <p:nvPr/>
        </p:nvSpPr>
        <p:spPr>
          <a:xfrm>
            <a:off x="7589520" y="3493008"/>
            <a:ext cx="1645920" cy="27432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Review</a:t>
            </a:r>
            <a:endParaRPr lang="en-US" sz="1500" dirty="0"/>
          </a:p>
        </p:txBody>
      </p:sp>
      <p:sp>
        <p:nvSpPr>
          <p:cNvPr id="49" name="Text 47"/>
          <p:cNvSpPr txBox="1"/>
          <p:nvPr/>
        </p:nvSpPr>
        <p:spPr>
          <a:xfrm>
            <a:off x="7589520" y="3785616"/>
            <a:ext cx="1691640" cy="731520"/>
          </a:xfrm>
          <a:prstGeom prst="rect">
            <a:avLst/>
          </a:prstGeom>
          <a:noFill/>
          <a:ln/>
        </p:spPr>
        <p:txBody>
          <a:bodyPr wrap="square" lIns="0" tIns="0" rIns="0" bIns="0" rtlCol="0" anchor="t"/>
          <a:lstStyle/>
          <a:p>
            <a:pPr indent="0" marL="0">
              <a:buNone/>
            </a:pPr>
            <a:r>
              <a:rPr lang="en-US" sz="1200" dirty="0">
                <a:solidFill>
                  <a:srgbClr val="6B665A"/>
                </a:solidFill>
                <a:latin typeface="Calibri" pitchFamily="34" charset="0"/>
                <a:ea typeface="Calibri" pitchFamily="34" charset="-122"/>
                <a:cs typeface="Calibri" pitchFamily="34" charset="-120"/>
              </a:rPr>
              <a:t>The owning company accepts or rejects</a:t>
            </a:r>
            <a:endParaRPr lang="en-US" sz="1200" dirty="0"/>
          </a:p>
        </p:txBody>
      </p:sp>
      <p:sp>
        <p:nvSpPr>
          <p:cNvPr id="50" name="Step badge 6"/>
          <p:cNvSpPr/>
          <p:nvPr/>
        </p:nvSpPr>
        <p:spPr>
          <a:xfrm>
            <a:off x="9372600" y="3474720"/>
            <a:ext cx="365760" cy="365760"/>
          </a:xfrm>
          <a:prstGeom prst="ellipse">
            <a:avLst/>
          </a:prstGeom>
          <a:solidFill>
            <a:schemeClr val="accent1"/>
          </a:solidFill>
          <a:ln w="12700">
            <a:solidFill>
              <a:schemeClr val="accent1"/>
            </a:solidFill>
            <a:prstDash val="solid"/>
          </a:ln>
        </p:spPr>
      </p:sp>
      <p:sp>
        <p:nvSpPr>
          <p:cNvPr id="51" name="Text 49"/>
          <p:cNvSpPr txBox="1"/>
          <p:nvPr/>
        </p:nvSpPr>
        <p:spPr>
          <a:xfrm>
            <a:off x="9372600" y="347472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6</a:t>
            </a:r>
            <a:endParaRPr lang="en-US" sz="1400" dirty="0"/>
          </a:p>
        </p:txBody>
      </p:sp>
      <p:sp>
        <p:nvSpPr>
          <p:cNvPr id="52" name="Text 50"/>
          <p:cNvSpPr txBox="1"/>
          <p:nvPr/>
        </p:nvSpPr>
        <p:spPr>
          <a:xfrm>
            <a:off x="9829800" y="3493008"/>
            <a:ext cx="1645920" cy="27432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Track</a:t>
            </a:r>
            <a:endParaRPr lang="en-US" sz="1500" dirty="0"/>
          </a:p>
        </p:txBody>
      </p:sp>
      <p:sp>
        <p:nvSpPr>
          <p:cNvPr id="53" name="Text 51"/>
          <p:cNvSpPr txBox="1"/>
          <p:nvPr/>
        </p:nvSpPr>
        <p:spPr>
          <a:xfrm>
            <a:off x="9829800" y="3785616"/>
            <a:ext cx="1691640" cy="731520"/>
          </a:xfrm>
          <a:prstGeom prst="rect">
            <a:avLst/>
          </a:prstGeom>
          <a:noFill/>
          <a:ln/>
        </p:spPr>
        <p:txBody>
          <a:bodyPr wrap="square" lIns="0" tIns="0" rIns="0" bIns="0" rtlCol="0" anchor="t"/>
          <a:lstStyle/>
          <a:p>
            <a:pPr indent="0" marL="0">
              <a:buNone/>
            </a:pPr>
            <a:r>
              <a:rPr lang="en-US" sz="1200" dirty="0">
                <a:solidFill>
                  <a:srgbClr val="6B665A"/>
                </a:solidFill>
                <a:latin typeface="Calibri" pitchFamily="34" charset="0"/>
                <a:ea typeface="Calibri" pitchFamily="34" charset="-122"/>
                <a:cs typeface="Calibri" pitchFamily="34" charset="-120"/>
              </a:rPr>
              <a:t>The student sees PENDING, ACCEPTED or REJECTED</a:t>
            </a:r>
            <a:endParaRPr lang="en-US" sz="1200" dirty="0"/>
          </a:p>
        </p:txBody>
      </p:sp>
      <p:sp>
        <p:nvSpPr>
          <p:cNvPr id="54" name="Shape 52"/>
          <p:cNvSpPr/>
          <p:nvPr/>
        </p:nvSpPr>
        <p:spPr>
          <a:xfrm>
            <a:off x="548640" y="4983480"/>
            <a:ext cx="11091672" cy="1188720"/>
          </a:xfrm>
          <a:prstGeom prst="rect">
            <a:avLst/>
          </a:prstGeom>
          <a:solidFill>
            <a:schemeClr val="tx2"/>
          </a:solidFill>
          <a:ln w="12700">
            <a:solidFill>
              <a:schemeClr val="tx2"/>
            </a:solidFill>
            <a:prstDash val="solid"/>
          </a:ln>
        </p:spPr>
      </p:sp>
      <p:sp>
        <p:nvSpPr>
          <p:cNvPr id="55" name="Text 53"/>
          <p:cNvSpPr txBox="1"/>
          <p:nvPr/>
        </p:nvSpPr>
        <p:spPr>
          <a:xfrm>
            <a:off x="822960" y="5102352"/>
            <a:ext cx="3657600" cy="274320"/>
          </a:xfrm>
          <a:prstGeom prst="rect">
            <a:avLst/>
          </a:prstGeom>
          <a:noFill/>
          <a:ln/>
        </p:spPr>
        <p:txBody>
          <a:bodyPr wrap="square" lIns="0" tIns="0" rIns="0" bIns="0" rtlCol="0" anchor="t"/>
          <a:lstStyle/>
          <a:p>
            <a:pPr indent="0" marL="0">
              <a:buNone/>
            </a:pPr>
            <a:r>
              <a:rPr lang="en-US" sz="1400" b="1" dirty="0">
                <a:solidFill>
                  <a:schemeClr val="accent2"/>
                </a:solidFill>
                <a:latin typeface="Calibri" pitchFamily="34" charset="0"/>
                <a:ea typeface="Calibri" pitchFamily="34" charset="-122"/>
                <a:cs typeface="Calibri" pitchFamily="34" charset="-120"/>
              </a:rPr>
              <a:t>What it looks like</a:t>
            </a:r>
            <a:endParaRPr lang="en-US" sz="1400" dirty="0"/>
          </a:p>
        </p:txBody>
      </p:sp>
      <p:sp>
        <p:nvSpPr>
          <p:cNvPr id="56" name="Text 54"/>
          <p:cNvSpPr txBox="1"/>
          <p:nvPr/>
        </p:nvSpPr>
        <p:spPr>
          <a:xfrm>
            <a:off x="822960" y="5413248"/>
            <a:ext cx="10515600" cy="685800"/>
          </a:xfrm>
          <a:prstGeom prst="rect">
            <a:avLst/>
          </a:prstGeom>
          <a:noFill/>
          <a:ln/>
        </p:spPr>
        <p:txBody>
          <a:bodyPr wrap="square" lIns="0" tIns="0" rIns="0" bIns="0" rtlCol="0" anchor="t"/>
          <a:lstStyle/>
          <a:p>
            <a:pPr indent="0" marL="0">
              <a:buNone/>
            </a:pPr>
            <a:r>
              <a:rPr lang="en-US" sz="1400" dirty="0">
                <a:solidFill>
                  <a:schemeClr val="bg1"/>
                </a:solidFill>
                <a:latin typeface="Calibri" pitchFamily="34" charset="0"/>
                <a:ea typeface="Calibri" pitchFamily="34" charset="-122"/>
                <a:cs typeface="Calibri" pitchFamily="34" charset="-120"/>
              </a:rPr>
              <a:t>Aarav Sharma (B.Tech Computer Engineering) applies to the Java Developer Intern at TechNova Solutions, Mumbai: ₹12,000 per month for 3 months. The application starts as PENDING, and TechNova’s representative can accept or reject it.</a:t>
            </a:r>
            <a:endParaRPr lang="en-US" sz="1400" dirty="0"/>
          </a:p>
        </p:txBody>
      </p:sp>
      <p:sp>
        <p:nvSpPr>
          <p:cNvPr id="57" name="Text 55"/>
          <p:cNvSpPr txBox="1"/>
          <p:nvPr/>
        </p:nvSpPr>
        <p:spPr>
          <a:xfrm>
            <a:off x="548640" y="6400800"/>
            <a:ext cx="9875520" cy="274320"/>
          </a:xfrm>
          <a:prstGeom prst="rect">
            <a:avLst/>
          </a:prstGeom>
          <a:noFill/>
          <a:ln/>
        </p:spPr>
        <p:txBody>
          <a:bodyPr wrap="square" lIns="0" tIns="0" rIns="0" bIns="0" rtlCol="0" anchor="t"/>
          <a:lstStyle/>
          <a:p>
            <a:pPr indent="0" marL="0">
              <a:buNone/>
            </a:pPr>
            <a:r>
              <a:rPr lang="en-US" sz="1000" dirty="0">
                <a:solidFill>
                  <a:srgbClr val="6B665A"/>
                </a:solidFill>
                <a:latin typeface="Calibri" pitchFamily="34" charset="0"/>
                <a:ea typeface="Calibri" pitchFamily="34" charset="-122"/>
                <a:cs typeface="Calibri" pitchFamily="34" charset="-120"/>
              </a:rPr>
              <a:t>Source: sample data (report Table III) · see the screens on slide 8</a:t>
            </a:r>
            <a:endParaRPr lang="en-US" sz="1000" dirty="0"/>
          </a:p>
        </p:txBody>
      </p:sp>
      <p:sp>
        <p:nvSpPr>
          <p:cNvPr id="25" name="Slide Number Placeholder 0"/>
          <p:cNvSpPr>
            <a:spLocks noGrp="1"/>
          </p:cNvSpPr>
          <p:nvPr>
            <p:ph type="sldNum" sz="quarter" idx="4294967295"/>
          </p:nvPr>
        </p:nvSpPr>
        <p:spPr>
          <a:xfrm>
            <a:off x="10698480" y="6400800"/>
            <a:ext cx="94183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65A"/>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292608"/>
            <a:ext cx="10058400" cy="256032"/>
          </a:xfrm>
          <a:prstGeom prst="rect">
            <a:avLst/>
          </a:prstGeom>
          <a:noFill/>
          <a:ln/>
        </p:spPr>
        <p:txBody>
          <a:bodyPr wrap="square" lIns="0" tIns="0" rIns="0" bIns="0" rtlCol="0" anchor="t"/>
          <a:lstStyle/>
          <a:p>
            <a:pPr indent="0" marL="0">
              <a:buNone/>
            </a:pPr>
            <a:r>
              <a:rPr lang="en-US" sz="1200" b="1" spc="300" kern="0" dirty="0">
                <a:solidFill>
                  <a:schemeClr val="accent1"/>
                </a:solidFill>
                <a:latin typeface="Calibri" pitchFamily="34" charset="0"/>
                <a:ea typeface="Calibri" pitchFamily="34" charset="-122"/>
                <a:cs typeface="Calibri" pitchFamily="34" charset="-120"/>
              </a:rPr>
              <a:t>THE DESIGN</a:t>
            </a:r>
            <a:endParaRPr lang="en-US" sz="1200" dirty="0"/>
          </a:p>
        </p:txBody>
      </p:sp>
      <p:sp>
        <p:nvSpPr>
          <p:cNvPr id="3" name="Text 0"/>
          <p:cNvSpPr/>
          <p:nvPr>
            <p:ph idx="100"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3400" b="1" dirty="0">
                <a:solidFill>
                  <a:schemeClr val="tx1"/>
                </a:solidFill>
                <a:latin typeface="Calibri" pitchFamily="34" charset="0"/>
                <a:ea typeface="Calibri" pitchFamily="34" charset="-122"/>
                <a:cs typeface="Calibri" pitchFamily="34" charset="-120"/>
              </a:rPr>
              <a:t>Six packages, one front door</a:t>
            </a:r>
            <a:endParaRPr lang="en-US" sz="3400" dirty="0"/>
          </a:p>
        </p:txBody>
      </p:sp>
      <p:sp>
        <p:nvSpPr>
          <p:cNvPr id="4" name="Shape 2"/>
          <p:cNvSpPr/>
          <p:nvPr/>
        </p:nvSpPr>
        <p:spPr>
          <a:xfrm>
            <a:off x="548640" y="1554480"/>
            <a:ext cx="7498080" cy="777240"/>
          </a:xfrm>
          <a:prstGeom prst="rect">
            <a:avLst/>
          </a:prstGeom>
          <a:solidFill>
            <a:schemeClr val="tx2"/>
          </a:solidFill>
          <a:ln w="12700">
            <a:solidFill>
              <a:schemeClr val="tx2"/>
            </a:solidFill>
            <a:prstDash val="solid"/>
          </a:ln>
        </p:spPr>
      </p:sp>
      <p:sp>
        <p:nvSpPr>
          <p:cNvPr id="5" name="Text 3"/>
          <p:cNvSpPr txBox="1"/>
          <p:nvPr/>
        </p:nvSpPr>
        <p:spPr>
          <a:xfrm>
            <a:off x="731520" y="1627632"/>
            <a:ext cx="1828800" cy="274320"/>
          </a:xfrm>
          <a:prstGeom prst="rect">
            <a:avLst/>
          </a:prstGeom>
          <a:noFill/>
          <a:ln/>
        </p:spPr>
        <p:txBody>
          <a:bodyPr wrap="square" lIns="0" tIns="0" rIns="0" bIns="0" rtlCol="0" anchor="t"/>
          <a:lstStyle/>
          <a:p>
            <a:pPr indent="0" marL="0">
              <a:buNone/>
            </a:pPr>
            <a:r>
              <a:rPr lang="en-US" sz="1500" b="1" dirty="0">
                <a:solidFill>
                  <a:schemeClr val="bg1"/>
                </a:solidFill>
                <a:latin typeface="Calibri" pitchFamily="34" charset="0"/>
                <a:ea typeface="Calibri" pitchFamily="34" charset="-122"/>
                <a:cs typeface="Calibri" pitchFamily="34" charset="-120"/>
              </a:rPr>
              <a:t>web</a:t>
            </a:r>
            <a:endParaRPr lang="en-US" sz="1500" dirty="0"/>
          </a:p>
        </p:txBody>
      </p:sp>
      <p:sp>
        <p:nvSpPr>
          <p:cNvPr id="6" name="Text 4"/>
          <p:cNvSpPr txBox="1"/>
          <p:nvPr/>
        </p:nvSpPr>
        <p:spPr>
          <a:xfrm>
            <a:off x="731520" y="1938528"/>
            <a:ext cx="7132320" cy="320040"/>
          </a:xfrm>
          <a:prstGeom prst="rect">
            <a:avLst/>
          </a:prstGeom>
          <a:noFill/>
          <a:ln/>
        </p:spPr>
        <p:txBody>
          <a:bodyPr wrap="square" lIns="0" tIns="0" rIns="0" bIns="0" rtlCol="0" anchor="t"/>
          <a:lstStyle/>
          <a:p>
            <a:pPr indent="0" marL="0">
              <a:buNone/>
            </a:pPr>
            <a:r>
              <a:rPr lang="en-US" sz="1200" dirty="0">
                <a:solidFill>
                  <a:srgbClr val="E7EDF6"/>
                </a:solidFill>
                <a:latin typeface="Calibri" pitchFamily="34" charset="0"/>
                <a:ea typeface="Calibri" pitchFamily="34" charset="-122"/>
                <a:cs typeface="Calibri" pitchFamily="34" charset="-120"/>
              </a:rPr>
              <a:t>WebServer, Html: routing, session cookie, role check, page templates</a:t>
            </a:r>
            <a:endParaRPr lang="en-US" sz="1200" dirty="0"/>
          </a:p>
        </p:txBody>
      </p:sp>
      <p:sp>
        <p:nvSpPr>
          <p:cNvPr id="7" name="Shape 5"/>
          <p:cNvSpPr/>
          <p:nvPr/>
        </p:nvSpPr>
        <p:spPr>
          <a:xfrm>
            <a:off x="4297680" y="2331720"/>
            <a:ext cx="0" cy="228600"/>
          </a:xfrm>
          <a:prstGeom prst="line">
            <a:avLst/>
          </a:prstGeom>
          <a:noFill/>
          <a:ln w="19050">
            <a:solidFill>
              <a:schemeClr val="accent4"/>
            </a:solidFill>
            <a:prstDash val="solid"/>
          </a:ln>
        </p:spPr>
      </p:sp>
      <p:sp>
        <p:nvSpPr>
          <p:cNvPr id="8" name="Shape 6"/>
          <p:cNvSpPr/>
          <p:nvPr/>
        </p:nvSpPr>
        <p:spPr>
          <a:xfrm>
            <a:off x="548640" y="2560320"/>
            <a:ext cx="7498080" cy="914400"/>
          </a:xfrm>
          <a:prstGeom prst="rect">
            <a:avLst/>
          </a:prstGeom>
          <a:solidFill>
            <a:schemeClr val="accent1"/>
          </a:solidFill>
          <a:ln w="12700">
            <a:solidFill>
              <a:schemeClr val="accent1"/>
            </a:solidFill>
            <a:prstDash val="solid"/>
          </a:ln>
        </p:spPr>
      </p:sp>
      <p:sp>
        <p:nvSpPr>
          <p:cNvPr id="9" name="Text 7"/>
          <p:cNvSpPr txBox="1"/>
          <p:nvPr/>
        </p:nvSpPr>
        <p:spPr>
          <a:xfrm>
            <a:off x="731520" y="2633472"/>
            <a:ext cx="3657600" cy="274320"/>
          </a:xfrm>
          <a:prstGeom prst="rect">
            <a:avLst/>
          </a:prstGeom>
          <a:noFill/>
          <a:ln/>
        </p:spPr>
        <p:txBody>
          <a:bodyPr wrap="square" lIns="0" tIns="0" rIns="0" bIns="0" rtlCol="0" anchor="t"/>
          <a:lstStyle/>
          <a:p>
            <a:pPr indent="0" marL="0">
              <a:buNone/>
            </a:pPr>
            <a:r>
              <a:rPr lang="en-US" sz="1500" b="1" dirty="0">
                <a:solidFill>
                  <a:schemeClr val="bg1"/>
                </a:solidFill>
                <a:latin typeface="Calibri" pitchFamily="34" charset="0"/>
                <a:ea typeface="Calibri" pitchFamily="34" charset="-122"/>
                <a:cs typeface="Calibri" pitchFamily="34" charset="-120"/>
              </a:rPr>
              <a:t>service</a:t>
            </a:r>
            <a:endParaRPr lang="en-US" sz="1500" dirty="0"/>
          </a:p>
        </p:txBody>
      </p:sp>
      <p:sp>
        <p:nvSpPr>
          <p:cNvPr id="10" name="Text 8"/>
          <p:cNvSpPr txBox="1"/>
          <p:nvPr/>
        </p:nvSpPr>
        <p:spPr>
          <a:xfrm>
            <a:off x="731520" y="2926080"/>
            <a:ext cx="7132320" cy="502920"/>
          </a:xfrm>
          <a:prstGeom prst="rect">
            <a:avLst/>
          </a:prstGeom>
          <a:noFill/>
          <a:ln/>
        </p:spPr>
        <p:txBody>
          <a:bodyPr wrap="square" lIns="0" tIns="0" rIns="0" bIns="0" rtlCol="0" anchor="t"/>
          <a:lstStyle/>
          <a:p>
            <a:pPr indent="0" marL="0">
              <a:buNone/>
            </a:pPr>
            <a:r>
              <a:rPr lang="en-US" sz="1200" dirty="0">
                <a:solidFill>
                  <a:schemeClr val="bg1"/>
                </a:solidFill>
                <a:latin typeface="Calibri" pitchFamily="34" charset="0"/>
                <a:ea typeface="Calibri" pitchFamily="34" charset="-122"/>
                <a:cs typeface="Calibri" pitchFamily="34" charset="-120"/>
              </a:rPr>
              <a:t>UserService · CompanyService · InternshipService · ApplicationService, behind the interfaces Manageable&lt;T&gt;, Searchable&lt;T&gt; and Applicable</a:t>
            </a:r>
            <a:endParaRPr lang="en-US" sz="1200" dirty="0"/>
          </a:p>
        </p:txBody>
      </p:sp>
      <p:sp>
        <p:nvSpPr>
          <p:cNvPr id="11" name="Shape 9"/>
          <p:cNvSpPr/>
          <p:nvPr/>
        </p:nvSpPr>
        <p:spPr>
          <a:xfrm>
            <a:off x="4297680" y="3474720"/>
            <a:ext cx="0" cy="228600"/>
          </a:xfrm>
          <a:prstGeom prst="line">
            <a:avLst/>
          </a:prstGeom>
          <a:noFill/>
          <a:ln w="19050">
            <a:solidFill>
              <a:schemeClr val="accent4"/>
            </a:solidFill>
            <a:prstDash val="solid"/>
          </a:ln>
        </p:spPr>
      </p:sp>
      <p:sp>
        <p:nvSpPr>
          <p:cNvPr id="12" name="Shape 10"/>
          <p:cNvSpPr/>
          <p:nvPr/>
        </p:nvSpPr>
        <p:spPr>
          <a:xfrm>
            <a:off x="548640" y="3703320"/>
            <a:ext cx="1737360" cy="2148840"/>
          </a:xfrm>
          <a:prstGeom prst="rect">
            <a:avLst/>
          </a:prstGeom>
          <a:solidFill>
            <a:schemeClr val="accent6"/>
          </a:solidFill>
          <a:ln w="12700">
            <a:solidFill>
              <a:schemeClr val="accent6"/>
            </a:solidFill>
            <a:prstDash val="solid"/>
          </a:ln>
        </p:spPr>
      </p:sp>
      <p:sp>
        <p:nvSpPr>
          <p:cNvPr id="13" name="Text 11"/>
          <p:cNvSpPr txBox="1"/>
          <p:nvPr/>
        </p:nvSpPr>
        <p:spPr>
          <a:xfrm>
            <a:off x="658368" y="3794760"/>
            <a:ext cx="1517904" cy="27432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model</a:t>
            </a:r>
            <a:endParaRPr lang="en-US" sz="1500" dirty="0"/>
          </a:p>
        </p:txBody>
      </p:sp>
      <p:sp>
        <p:nvSpPr>
          <p:cNvPr id="14" name="Text 12"/>
          <p:cNvSpPr txBox="1"/>
          <p:nvPr/>
        </p:nvSpPr>
        <p:spPr>
          <a:xfrm>
            <a:off x="658368" y="4096512"/>
            <a:ext cx="1517904" cy="228600"/>
          </a:xfrm>
          <a:prstGeom prst="rect">
            <a:avLst/>
          </a:prstGeom>
          <a:noFill/>
          <a:ln/>
        </p:spPr>
        <p:txBody>
          <a:bodyPr wrap="square" lIns="0" tIns="0" rIns="0" bIns="0" rtlCol="0" anchor="t"/>
          <a:lstStyle/>
          <a:p>
            <a:pPr indent="0" marL="0">
              <a:buNone/>
            </a:pPr>
            <a:r>
              <a:rPr lang="en-US" sz="1100" b="1" dirty="0">
                <a:solidFill>
                  <a:schemeClr val="accent1"/>
                </a:solidFill>
                <a:latin typeface="Calibri" pitchFamily="34" charset="0"/>
                <a:ea typeface="Calibri" pitchFamily="34" charset="-122"/>
                <a:cs typeface="Calibri" pitchFamily="34" charset="-120"/>
              </a:rPr>
              <a:t>8 files · 345 lines</a:t>
            </a:r>
            <a:endParaRPr lang="en-US" sz="1100" dirty="0"/>
          </a:p>
        </p:txBody>
      </p:sp>
      <p:sp>
        <p:nvSpPr>
          <p:cNvPr id="15" name="Text 13"/>
          <p:cNvSpPr txBox="1"/>
          <p:nvPr/>
        </p:nvSpPr>
        <p:spPr>
          <a:xfrm>
            <a:off x="658368" y="4389120"/>
            <a:ext cx="1517904" cy="1371600"/>
          </a:xfrm>
          <a:prstGeom prst="rect">
            <a:avLst/>
          </a:prstGeom>
          <a:noFill/>
          <a:ln/>
        </p:spPr>
        <p:txBody>
          <a:bodyPr wrap="square" lIns="0" tIns="0" rIns="0" bIns="0" rtlCol="0" anchor="t"/>
          <a:lstStyle/>
          <a:p>
            <a:pPr indent="0" marL="0">
              <a:buNone/>
            </a:pPr>
            <a:r>
              <a:rPr lang="en-US" sz="1200" dirty="0">
                <a:solidFill>
                  <a:srgbClr val="2B2B2B"/>
                </a:solidFill>
                <a:latin typeface="Calibri" pitchFamily="34" charset="0"/>
                <a:ea typeface="Calibri" pitchFamily="34" charset="-122"/>
                <a:cs typeface="Calibri" pitchFamily="34" charset="-120"/>
              </a:rPr>
              <a:t>User and 3 subclasses, Company, Internship, Application, ApplicationStatus</a:t>
            </a:r>
            <a:endParaRPr lang="en-US" sz="1200" dirty="0"/>
          </a:p>
        </p:txBody>
      </p:sp>
      <p:sp>
        <p:nvSpPr>
          <p:cNvPr id="16" name="Shape 14"/>
          <p:cNvSpPr/>
          <p:nvPr/>
        </p:nvSpPr>
        <p:spPr>
          <a:xfrm>
            <a:off x="2468880" y="3703320"/>
            <a:ext cx="1737360" cy="2148840"/>
          </a:xfrm>
          <a:prstGeom prst="rect">
            <a:avLst/>
          </a:prstGeom>
          <a:solidFill>
            <a:schemeClr val="accent6"/>
          </a:solidFill>
          <a:ln w="12700">
            <a:solidFill>
              <a:schemeClr val="accent6"/>
            </a:solidFill>
            <a:prstDash val="solid"/>
          </a:ln>
        </p:spPr>
      </p:sp>
      <p:sp>
        <p:nvSpPr>
          <p:cNvPr id="17" name="Text 15"/>
          <p:cNvSpPr txBox="1"/>
          <p:nvPr/>
        </p:nvSpPr>
        <p:spPr>
          <a:xfrm>
            <a:off x="2578608" y="3794760"/>
            <a:ext cx="1517904" cy="27432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util</a:t>
            </a:r>
            <a:endParaRPr lang="en-US" sz="1500" dirty="0"/>
          </a:p>
        </p:txBody>
      </p:sp>
      <p:sp>
        <p:nvSpPr>
          <p:cNvPr id="18" name="Text 16"/>
          <p:cNvSpPr txBox="1"/>
          <p:nvPr/>
        </p:nvSpPr>
        <p:spPr>
          <a:xfrm>
            <a:off x="2578608" y="4096512"/>
            <a:ext cx="1517904" cy="228600"/>
          </a:xfrm>
          <a:prstGeom prst="rect">
            <a:avLst/>
          </a:prstGeom>
          <a:noFill/>
          <a:ln/>
        </p:spPr>
        <p:txBody>
          <a:bodyPr wrap="square" lIns="0" tIns="0" rIns="0" bIns="0" rtlCol="0" anchor="t"/>
          <a:lstStyle/>
          <a:p>
            <a:pPr indent="0" marL="0">
              <a:buNone/>
            </a:pPr>
            <a:r>
              <a:rPr lang="en-US" sz="1100" b="1" dirty="0">
                <a:solidFill>
                  <a:schemeClr val="accent1"/>
                </a:solidFill>
                <a:latin typeface="Calibri" pitchFamily="34" charset="0"/>
                <a:ea typeface="Calibri" pitchFamily="34" charset="-122"/>
                <a:cs typeface="Calibri" pitchFamily="34" charset="-120"/>
              </a:rPr>
              <a:t>5 files · 181 lines</a:t>
            </a:r>
            <a:endParaRPr lang="en-US" sz="1100" dirty="0"/>
          </a:p>
        </p:txBody>
      </p:sp>
      <p:sp>
        <p:nvSpPr>
          <p:cNvPr id="19" name="Text 17"/>
          <p:cNvSpPr txBox="1"/>
          <p:nvPr/>
        </p:nvSpPr>
        <p:spPr>
          <a:xfrm>
            <a:off x="2578608" y="4389120"/>
            <a:ext cx="1517904" cy="1371600"/>
          </a:xfrm>
          <a:prstGeom prst="rect">
            <a:avLst/>
          </a:prstGeom>
          <a:noFill/>
          <a:ln/>
        </p:spPr>
        <p:txBody>
          <a:bodyPr wrap="square" lIns="0" tIns="0" rIns="0" bIns="0" rtlCol="0" anchor="t"/>
          <a:lstStyle/>
          <a:p>
            <a:pPr indent="0" marL="0">
              <a:buNone/>
            </a:pPr>
            <a:r>
              <a:rPr lang="en-US" sz="1200" dirty="0">
                <a:solidFill>
                  <a:srgbClr val="2B2B2B"/>
                </a:solidFill>
                <a:latin typeface="Calibri" pitchFamily="34" charset="0"/>
                <a:ea typeface="Calibri" pitchFamily="34" charset="-122"/>
                <a:cs typeface="Calibri" pitchFamily="34" charset="-120"/>
              </a:rPr>
              <a:t>DataStore&lt;T&gt;, Validator, PasswordUtil, IdGenerator, SampleData</a:t>
            </a:r>
            <a:endParaRPr lang="en-US" sz="1200" dirty="0"/>
          </a:p>
        </p:txBody>
      </p:sp>
      <p:sp>
        <p:nvSpPr>
          <p:cNvPr id="20" name="Shape 18"/>
          <p:cNvSpPr/>
          <p:nvPr/>
        </p:nvSpPr>
        <p:spPr>
          <a:xfrm>
            <a:off x="4389120" y="3703320"/>
            <a:ext cx="1737360" cy="2148840"/>
          </a:xfrm>
          <a:prstGeom prst="rect">
            <a:avLst/>
          </a:prstGeom>
          <a:solidFill>
            <a:schemeClr val="accent6"/>
          </a:solidFill>
          <a:ln w="12700">
            <a:solidFill>
              <a:schemeClr val="accent6"/>
            </a:solidFill>
            <a:prstDash val="solid"/>
          </a:ln>
        </p:spPr>
      </p:sp>
      <p:sp>
        <p:nvSpPr>
          <p:cNvPr id="21" name="Text 19"/>
          <p:cNvSpPr txBox="1"/>
          <p:nvPr/>
        </p:nvSpPr>
        <p:spPr>
          <a:xfrm>
            <a:off x="4498848" y="3794760"/>
            <a:ext cx="1517904" cy="27432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exception</a:t>
            </a:r>
            <a:endParaRPr lang="en-US" sz="1500" dirty="0"/>
          </a:p>
        </p:txBody>
      </p:sp>
      <p:sp>
        <p:nvSpPr>
          <p:cNvPr id="22" name="Text 20"/>
          <p:cNvSpPr txBox="1"/>
          <p:nvPr/>
        </p:nvSpPr>
        <p:spPr>
          <a:xfrm>
            <a:off x="4498848" y="4096512"/>
            <a:ext cx="1517904" cy="228600"/>
          </a:xfrm>
          <a:prstGeom prst="rect">
            <a:avLst/>
          </a:prstGeom>
          <a:noFill/>
          <a:ln/>
        </p:spPr>
        <p:txBody>
          <a:bodyPr wrap="square" lIns="0" tIns="0" rIns="0" bIns="0" rtlCol="0" anchor="t"/>
          <a:lstStyle/>
          <a:p>
            <a:pPr indent="0" marL="0">
              <a:buNone/>
            </a:pPr>
            <a:r>
              <a:rPr lang="en-US" sz="1100" b="1" dirty="0">
                <a:solidFill>
                  <a:schemeClr val="accent1"/>
                </a:solidFill>
                <a:latin typeface="Calibri" pitchFamily="34" charset="0"/>
                <a:ea typeface="Calibri" pitchFamily="34" charset="-122"/>
                <a:cs typeface="Calibri" pitchFamily="34" charset="-120"/>
              </a:rPr>
              <a:t>7 files · 69 lines</a:t>
            </a:r>
            <a:endParaRPr lang="en-US" sz="1100" dirty="0"/>
          </a:p>
        </p:txBody>
      </p:sp>
      <p:sp>
        <p:nvSpPr>
          <p:cNvPr id="23" name="Text 21"/>
          <p:cNvSpPr txBox="1"/>
          <p:nvPr/>
        </p:nvSpPr>
        <p:spPr>
          <a:xfrm>
            <a:off x="4498848" y="4389120"/>
            <a:ext cx="1517904" cy="1371600"/>
          </a:xfrm>
          <a:prstGeom prst="rect">
            <a:avLst/>
          </a:prstGeom>
          <a:noFill/>
          <a:ln/>
        </p:spPr>
        <p:txBody>
          <a:bodyPr wrap="square" lIns="0" tIns="0" rIns="0" bIns="0" rtlCol="0" anchor="t"/>
          <a:lstStyle/>
          <a:p>
            <a:pPr indent="0" marL="0">
              <a:buNone/>
            </a:pPr>
            <a:r>
              <a:rPr lang="en-US" sz="1200" dirty="0">
                <a:solidFill>
                  <a:srgbClr val="2B2B2B"/>
                </a:solidFill>
                <a:latin typeface="Calibri" pitchFamily="34" charset="0"/>
                <a:ea typeface="Calibri" pitchFamily="34" charset="-122"/>
                <a:cs typeface="Calibri" pitchFamily="34" charset="-120"/>
              </a:rPr>
              <a:t>A base error class and 6 specific errors, all checked</a:t>
            </a:r>
            <a:endParaRPr lang="en-US" sz="1200" dirty="0"/>
          </a:p>
        </p:txBody>
      </p:sp>
      <p:sp>
        <p:nvSpPr>
          <p:cNvPr id="24" name="Shape 22"/>
          <p:cNvSpPr/>
          <p:nvPr/>
        </p:nvSpPr>
        <p:spPr>
          <a:xfrm>
            <a:off x="6309360" y="3703320"/>
            <a:ext cx="1737360" cy="2148840"/>
          </a:xfrm>
          <a:prstGeom prst="rect">
            <a:avLst/>
          </a:prstGeom>
          <a:solidFill>
            <a:schemeClr val="accent6"/>
          </a:solidFill>
          <a:ln w="12700">
            <a:solidFill>
              <a:schemeClr val="accent6"/>
            </a:solidFill>
            <a:prstDash val="solid"/>
          </a:ln>
        </p:spPr>
      </p:sp>
      <p:sp>
        <p:nvSpPr>
          <p:cNvPr id="25" name="Text 23"/>
          <p:cNvSpPr txBox="1"/>
          <p:nvPr/>
        </p:nvSpPr>
        <p:spPr>
          <a:xfrm>
            <a:off x="6419088" y="3794760"/>
            <a:ext cx="1517904" cy="27432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main</a:t>
            </a:r>
            <a:endParaRPr lang="en-US" sz="1500" dirty="0"/>
          </a:p>
        </p:txBody>
      </p:sp>
      <p:sp>
        <p:nvSpPr>
          <p:cNvPr id="26" name="Text 24"/>
          <p:cNvSpPr txBox="1"/>
          <p:nvPr/>
        </p:nvSpPr>
        <p:spPr>
          <a:xfrm>
            <a:off x="6419088" y="4096512"/>
            <a:ext cx="1517904" cy="228600"/>
          </a:xfrm>
          <a:prstGeom prst="rect">
            <a:avLst/>
          </a:prstGeom>
          <a:noFill/>
          <a:ln/>
        </p:spPr>
        <p:txBody>
          <a:bodyPr wrap="square" lIns="0" tIns="0" rIns="0" bIns="0" rtlCol="0" anchor="t"/>
          <a:lstStyle/>
          <a:p>
            <a:pPr indent="0" marL="0">
              <a:buNone/>
            </a:pPr>
            <a:r>
              <a:rPr lang="en-US" sz="1100" b="1" dirty="0">
                <a:solidFill>
                  <a:schemeClr val="accent1"/>
                </a:solidFill>
                <a:latin typeface="Calibri" pitchFamily="34" charset="0"/>
                <a:ea typeface="Calibri" pitchFamily="34" charset="-122"/>
                <a:cs typeface="Calibri" pitchFamily="34" charset="-120"/>
              </a:rPr>
              <a:t>1 file · 48 lines</a:t>
            </a:r>
            <a:endParaRPr lang="en-US" sz="1100" dirty="0"/>
          </a:p>
        </p:txBody>
      </p:sp>
      <p:sp>
        <p:nvSpPr>
          <p:cNvPr id="27" name="Text 25"/>
          <p:cNvSpPr txBox="1"/>
          <p:nvPr/>
        </p:nvSpPr>
        <p:spPr>
          <a:xfrm>
            <a:off x="6419088" y="4389120"/>
            <a:ext cx="1517904" cy="1371600"/>
          </a:xfrm>
          <a:prstGeom prst="rect">
            <a:avLst/>
          </a:prstGeom>
          <a:noFill/>
          <a:ln/>
        </p:spPr>
        <p:txBody>
          <a:bodyPr wrap="square" lIns="0" tIns="0" rIns="0" bIns="0" rtlCol="0" anchor="t"/>
          <a:lstStyle/>
          <a:p>
            <a:pPr indent="0" marL="0">
              <a:buNone/>
            </a:pPr>
            <a:r>
              <a:rPr lang="en-US" sz="1200" dirty="0">
                <a:solidFill>
                  <a:srgbClr val="2B2B2B"/>
                </a:solidFill>
                <a:latin typeface="Calibri" pitchFamily="34" charset="0"/>
                <a:ea typeface="Calibri" pitchFamily="34" charset="-122"/>
                <a:cs typeface="Calibri" pitchFamily="34" charset="-120"/>
              </a:rPr>
              <a:t>Main loads the data, seeds the samples and starts the server</a:t>
            </a:r>
            <a:endParaRPr lang="en-US" sz="1200" dirty="0"/>
          </a:p>
        </p:txBody>
      </p:sp>
      <p:sp>
        <p:nvSpPr>
          <p:cNvPr id="28" name="Text 26"/>
          <p:cNvSpPr txBox="1"/>
          <p:nvPr/>
        </p:nvSpPr>
        <p:spPr>
          <a:xfrm>
            <a:off x="8458200" y="1554480"/>
            <a:ext cx="3200400" cy="274320"/>
          </a:xfrm>
          <a:prstGeom prst="rect">
            <a:avLst/>
          </a:prstGeom>
          <a:noFill/>
          <a:ln/>
        </p:spPr>
        <p:txBody>
          <a:bodyPr wrap="square" lIns="0" tIns="0" rIns="0" bIns="0" rtlCol="0" anchor="t"/>
          <a:lstStyle/>
          <a:p>
            <a:pPr indent="0" marL="0">
              <a:buNone/>
            </a:pPr>
            <a:r>
              <a:rPr lang="en-US" sz="1500" b="1" dirty="0">
                <a:solidFill>
                  <a:schemeClr val="accent1"/>
                </a:solidFill>
                <a:latin typeface="Calibri" pitchFamily="34" charset="0"/>
                <a:ea typeface="Calibri" pitchFamily="34" charset="-122"/>
                <a:cs typeface="Calibri" pitchFamily="34" charset="-120"/>
              </a:rPr>
              <a:t>One front door</a:t>
            </a:r>
            <a:endParaRPr lang="en-US" sz="1500" dirty="0"/>
          </a:p>
        </p:txBody>
      </p:sp>
      <p:sp>
        <p:nvSpPr>
          <p:cNvPr id="29" name="Text 27"/>
          <p:cNvSpPr txBox="1"/>
          <p:nvPr/>
        </p:nvSpPr>
        <p:spPr>
          <a:xfrm>
            <a:off x="8458200" y="1847088"/>
            <a:ext cx="3200400" cy="731520"/>
          </a:xfrm>
          <a:prstGeom prst="rect">
            <a:avLst/>
          </a:prstGeom>
          <a:noFill/>
          <a:ln/>
        </p:spPr>
        <p:txBody>
          <a:bodyPr wrap="square" lIns="0" tIns="0" rIns="0" bIns="0" rtlCol="0" anchor="t"/>
          <a:lstStyle/>
          <a:p>
            <a:pPr indent="0" marL="0">
              <a:buNone/>
            </a:pPr>
            <a:r>
              <a:rPr lang="en-US" sz="1300" dirty="0">
                <a:solidFill>
                  <a:srgbClr val="2B2B2B"/>
                </a:solidFill>
                <a:latin typeface="Calibri" pitchFamily="34" charset="0"/>
                <a:ea typeface="Calibri" pitchFamily="34" charset="-122"/>
                <a:cs typeface="Calibri" pitchFamily="34" charset="-120"/>
              </a:rPr>
              <a:t>WebServer checks the role before every page. The services never see HTTP.</a:t>
            </a:r>
            <a:endParaRPr lang="en-US" sz="1300" dirty="0"/>
          </a:p>
        </p:txBody>
      </p:sp>
      <p:sp>
        <p:nvSpPr>
          <p:cNvPr id="30" name="Text 28"/>
          <p:cNvSpPr txBox="1"/>
          <p:nvPr/>
        </p:nvSpPr>
        <p:spPr>
          <a:xfrm>
            <a:off x="8458200" y="2633472"/>
            <a:ext cx="3200400" cy="274320"/>
          </a:xfrm>
          <a:prstGeom prst="rect">
            <a:avLst/>
          </a:prstGeom>
          <a:noFill/>
          <a:ln/>
        </p:spPr>
        <p:txBody>
          <a:bodyPr wrap="square" lIns="0" tIns="0" rIns="0" bIns="0" rtlCol="0" anchor="t"/>
          <a:lstStyle/>
          <a:p>
            <a:pPr indent="0" marL="0">
              <a:buNone/>
            </a:pPr>
            <a:r>
              <a:rPr lang="en-US" sz="1500" b="1" dirty="0">
                <a:solidFill>
                  <a:schemeClr val="accent1"/>
                </a:solidFill>
                <a:latin typeface="Calibri" pitchFamily="34" charset="0"/>
                <a:ea typeface="Calibri" pitchFamily="34" charset="-122"/>
                <a:cs typeface="Calibri" pitchFamily="34" charset="-120"/>
              </a:rPr>
              <a:t>Rules live in the service</a:t>
            </a:r>
            <a:endParaRPr lang="en-US" sz="1500" dirty="0"/>
          </a:p>
        </p:txBody>
      </p:sp>
      <p:sp>
        <p:nvSpPr>
          <p:cNvPr id="31" name="Text 29"/>
          <p:cNvSpPr txBox="1"/>
          <p:nvPr/>
        </p:nvSpPr>
        <p:spPr>
          <a:xfrm>
            <a:off x="8458200" y="2926080"/>
            <a:ext cx="3200400" cy="731520"/>
          </a:xfrm>
          <a:prstGeom prst="rect">
            <a:avLst/>
          </a:prstGeom>
          <a:noFill/>
          <a:ln/>
        </p:spPr>
        <p:txBody>
          <a:bodyPr wrap="square" lIns="0" tIns="0" rIns="0" bIns="0" rtlCol="0" anchor="t"/>
          <a:lstStyle/>
          <a:p>
            <a:pPr indent="0" marL="0">
              <a:buNone/>
            </a:pPr>
            <a:r>
              <a:rPr lang="en-US" sz="1300" dirty="0">
                <a:solidFill>
                  <a:srgbClr val="2B2B2B"/>
                </a:solidFill>
                <a:latin typeface="Calibri" pitchFamily="34" charset="0"/>
                <a:ea typeface="Calibri" pitchFamily="34" charset="-122"/>
                <a:cs typeface="Calibri" pitchFamily="34" charset="-120"/>
              </a:rPr>
              <a:t>Duplicate applications and ownership are checked in the service, not in the page.</a:t>
            </a:r>
            <a:endParaRPr lang="en-US" sz="1300" dirty="0"/>
          </a:p>
        </p:txBody>
      </p:sp>
      <p:sp>
        <p:nvSpPr>
          <p:cNvPr id="32" name="Text 30"/>
          <p:cNvSpPr txBox="1"/>
          <p:nvPr/>
        </p:nvSpPr>
        <p:spPr>
          <a:xfrm>
            <a:off x="8458200" y="3712464"/>
            <a:ext cx="3200400" cy="274320"/>
          </a:xfrm>
          <a:prstGeom prst="rect">
            <a:avLst/>
          </a:prstGeom>
          <a:noFill/>
          <a:ln/>
        </p:spPr>
        <p:txBody>
          <a:bodyPr wrap="square" lIns="0" tIns="0" rIns="0" bIns="0" rtlCol="0" anchor="t"/>
          <a:lstStyle/>
          <a:p>
            <a:pPr indent="0" marL="0">
              <a:buNone/>
            </a:pPr>
            <a:r>
              <a:rPr lang="en-US" sz="1500" b="1" dirty="0">
                <a:solidFill>
                  <a:schemeClr val="accent1"/>
                </a:solidFill>
                <a:latin typeface="Calibri" pitchFamily="34" charset="0"/>
                <a:ea typeface="Calibri" pitchFamily="34" charset="-122"/>
                <a:cs typeface="Calibri" pitchFamily="34" charset="-120"/>
              </a:rPr>
              <a:t>Data stays separate</a:t>
            </a:r>
            <a:endParaRPr lang="en-US" sz="1500" dirty="0"/>
          </a:p>
        </p:txBody>
      </p:sp>
      <p:sp>
        <p:nvSpPr>
          <p:cNvPr id="33" name="Text 31"/>
          <p:cNvSpPr txBox="1"/>
          <p:nvPr/>
        </p:nvSpPr>
        <p:spPr>
          <a:xfrm>
            <a:off x="8458200" y="4005072"/>
            <a:ext cx="3200400" cy="731520"/>
          </a:xfrm>
          <a:prstGeom prst="rect">
            <a:avLst/>
          </a:prstGeom>
          <a:noFill/>
          <a:ln/>
        </p:spPr>
        <p:txBody>
          <a:bodyPr wrap="square" lIns="0" tIns="0" rIns="0" bIns="0" rtlCol="0" anchor="t"/>
          <a:lstStyle/>
          <a:p>
            <a:pPr indent="0" marL="0">
              <a:buNone/>
            </a:pPr>
            <a:r>
              <a:rPr lang="en-US" sz="1300" dirty="0">
                <a:solidFill>
                  <a:srgbClr val="2B2B2B"/>
                </a:solidFill>
                <a:latin typeface="Calibri" pitchFamily="34" charset="0"/>
                <a:ea typeface="Calibri" pitchFamily="34" charset="-122"/>
                <a:cs typeface="Calibri" pitchFamily="34" charset="-120"/>
              </a:rPr>
              <a:t>Entities know nothing about files. DataStore&lt;T&gt; saves four .dat files.</a:t>
            </a:r>
            <a:endParaRPr lang="en-US" sz="1300" dirty="0"/>
          </a:p>
        </p:txBody>
      </p:sp>
      <p:sp>
        <p:nvSpPr>
          <p:cNvPr id="34" name="Text 32"/>
          <p:cNvSpPr txBox="1"/>
          <p:nvPr/>
        </p:nvSpPr>
        <p:spPr>
          <a:xfrm>
            <a:off x="8458200" y="4791456"/>
            <a:ext cx="3200400" cy="274320"/>
          </a:xfrm>
          <a:prstGeom prst="rect">
            <a:avLst/>
          </a:prstGeom>
          <a:noFill/>
          <a:ln/>
        </p:spPr>
        <p:txBody>
          <a:bodyPr wrap="square" lIns="0" tIns="0" rIns="0" bIns="0" rtlCol="0" anchor="t"/>
          <a:lstStyle/>
          <a:p>
            <a:pPr indent="0" marL="0">
              <a:buNone/>
            </a:pPr>
            <a:r>
              <a:rPr lang="en-US" sz="1500" b="1" dirty="0">
                <a:solidFill>
                  <a:schemeClr val="accent1"/>
                </a:solidFill>
                <a:latin typeface="Calibri" pitchFamily="34" charset="0"/>
                <a:ea typeface="Calibri" pitchFamily="34" charset="-122"/>
                <a:cs typeface="Calibri" pitchFamily="34" charset="-120"/>
              </a:rPr>
              <a:t>Plain Java</a:t>
            </a:r>
            <a:endParaRPr lang="en-US" sz="1500" dirty="0"/>
          </a:p>
        </p:txBody>
      </p:sp>
      <p:sp>
        <p:nvSpPr>
          <p:cNvPr id="35" name="Text 33"/>
          <p:cNvSpPr txBox="1"/>
          <p:nvPr/>
        </p:nvSpPr>
        <p:spPr>
          <a:xfrm>
            <a:off x="8458200" y="5084064"/>
            <a:ext cx="3200400" cy="731520"/>
          </a:xfrm>
          <a:prstGeom prst="rect">
            <a:avLst/>
          </a:prstGeom>
          <a:noFill/>
          <a:ln/>
        </p:spPr>
        <p:txBody>
          <a:bodyPr wrap="square" lIns="0" tIns="0" rIns="0" bIns="0" rtlCol="0" anchor="t"/>
          <a:lstStyle/>
          <a:p>
            <a:pPr indent="0" marL="0">
              <a:buNone/>
            </a:pPr>
            <a:r>
              <a:rPr lang="en-US" sz="1300" dirty="0">
                <a:solidFill>
                  <a:srgbClr val="2B2B2B"/>
                </a:solidFill>
                <a:latin typeface="Calibri" pitchFamily="34" charset="0"/>
                <a:ea typeface="Calibri" pitchFamily="34" charset="-122"/>
                <a:cs typeface="Calibri" pitchFamily="34" charset="-120"/>
              </a:rPr>
              <a:t>30 files, 1,860 lines, no library, framework or database.</a:t>
            </a:r>
            <a:endParaRPr lang="en-US" sz="1300" dirty="0"/>
          </a:p>
        </p:txBody>
      </p:sp>
      <p:sp>
        <p:nvSpPr>
          <p:cNvPr id="36" name="Text 34"/>
          <p:cNvSpPr txBox="1"/>
          <p:nvPr/>
        </p:nvSpPr>
        <p:spPr>
          <a:xfrm>
            <a:off x="548640" y="6400800"/>
            <a:ext cx="9875520" cy="274320"/>
          </a:xfrm>
          <a:prstGeom prst="rect">
            <a:avLst/>
          </a:prstGeom>
          <a:noFill/>
          <a:ln/>
        </p:spPr>
        <p:txBody>
          <a:bodyPr wrap="square" lIns="0" tIns="0" rIns="0" bIns="0" rtlCol="0" anchor="t"/>
          <a:lstStyle/>
          <a:p>
            <a:pPr indent="0" marL="0">
              <a:buNone/>
            </a:pPr>
            <a:r>
              <a:rPr lang="en-US" sz="1000" dirty="0">
                <a:solidFill>
                  <a:srgbClr val="6B665A"/>
                </a:solidFill>
                <a:latin typeface="Calibri" pitchFamily="34" charset="0"/>
                <a:ea typeface="Calibri" pitchFamily="34" charset="-122"/>
                <a:cs typeface="Calibri" pitchFamily="34" charset="-120"/>
              </a:rPr>
              <a:t>Source: report, Section IV-A and Table I · lines of Java include comments</a:t>
            </a:r>
            <a:endParaRPr lang="en-US" sz="1000" dirty="0"/>
          </a:p>
        </p:txBody>
      </p:sp>
      <p:sp>
        <p:nvSpPr>
          <p:cNvPr id="25" name="Slide Number Placeholder 0"/>
          <p:cNvSpPr>
            <a:spLocks noGrp="1"/>
          </p:cNvSpPr>
          <p:nvPr>
            <p:ph type="sldNum" sz="quarter" idx="4294967295"/>
          </p:nvPr>
        </p:nvSpPr>
        <p:spPr>
          <a:xfrm>
            <a:off x="10698480" y="6400800"/>
            <a:ext cx="94183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65A"/>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292608"/>
            <a:ext cx="10058400" cy="256032"/>
          </a:xfrm>
          <a:prstGeom prst="rect">
            <a:avLst/>
          </a:prstGeom>
          <a:noFill/>
          <a:ln/>
        </p:spPr>
        <p:txBody>
          <a:bodyPr wrap="square" lIns="0" tIns="0" rIns="0" bIns="0" rtlCol="0" anchor="t"/>
          <a:lstStyle/>
          <a:p>
            <a:pPr indent="0" marL="0">
              <a:buNone/>
            </a:pPr>
            <a:r>
              <a:rPr lang="en-US" sz="1200" b="1" spc="300" kern="0" dirty="0">
                <a:solidFill>
                  <a:schemeClr val="accent1"/>
                </a:solidFill>
                <a:latin typeface="Calibri" pitchFamily="34" charset="0"/>
                <a:ea typeface="Calibri" pitchFamily="34" charset="-122"/>
                <a:cs typeface="Calibri" pitchFamily="34" charset="-120"/>
              </a:rPr>
              <a:t>THE OOP TOOLKIT</a:t>
            </a:r>
            <a:endParaRPr lang="en-US" sz="1200" dirty="0"/>
          </a:p>
        </p:txBody>
      </p:sp>
      <p:sp>
        <p:nvSpPr>
          <p:cNvPr id="3" name="Text 0"/>
          <p:cNvSpPr/>
          <p:nvPr>
            <p:ph idx="100"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3400" b="1" dirty="0">
                <a:solidFill>
                  <a:schemeClr val="tx1"/>
                </a:solidFill>
                <a:latin typeface="Calibri" pitchFamily="34" charset="0"/>
                <a:ea typeface="Calibri" pitchFamily="34" charset="-122"/>
                <a:cs typeface="Calibri" pitchFamily="34" charset="-120"/>
              </a:rPr>
              <a:t>Eleven ideas, each with a job</a:t>
            </a:r>
            <a:endParaRPr lang="en-US" sz="3400" dirty="0"/>
          </a:p>
        </p:txBody>
      </p:sp>
      <p:sp>
        <p:nvSpPr>
          <p:cNvPr id="4" name="Shape 2"/>
          <p:cNvSpPr/>
          <p:nvPr/>
        </p:nvSpPr>
        <p:spPr>
          <a:xfrm>
            <a:off x="548640" y="1463040"/>
            <a:ext cx="2635758" cy="1463040"/>
          </a:xfrm>
          <a:prstGeom prst="rect">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685800" y="1554480"/>
            <a:ext cx="2361438" cy="274320"/>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Classes &amp; objects</a:t>
            </a:r>
            <a:endParaRPr lang="en-US" sz="1400" dirty="0"/>
          </a:p>
        </p:txBody>
      </p:sp>
      <p:sp>
        <p:nvSpPr>
          <p:cNvPr id="6" name="Text 4"/>
          <p:cNvSpPr txBox="1"/>
          <p:nvPr/>
        </p:nvSpPr>
        <p:spPr>
          <a:xfrm>
            <a:off x="685800" y="1865376"/>
            <a:ext cx="2361438" cy="457200"/>
          </a:xfrm>
          <a:prstGeom prst="rect">
            <a:avLst/>
          </a:prstGeom>
          <a:noFill/>
          <a:ln/>
        </p:spPr>
        <p:txBody>
          <a:bodyPr wrap="square" lIns="0" tIns="0" rIns="0" bIns="0" rtlCol="0" anchor="t"/>
          <a:lstStyle/>
          <a:p>
            <a:pPr indent="0" marL="0">
              <a:buNone/>
            </a:pPr>
            <a:r>
              <a:rPr lang="en-US" sz="1200" b="1" dirty="0">
                <a:solidFill>
                  <a:schemeClr val="tx1"/>
                </a:solidFill>
                <a:latin typeface="Calibri" pitchFamily="34" charset="0"/>
                <a:ea typeface="Calibri" pitchFamily="34" charset="-122"/>
                <a:cs typeface="Calibri" pitchFamily="34" charset="-120"/>
              </a:rPr>
              <a:t>A blueprint and the buildings made from it</a:t>
            </a:r>
            <a:endParaRPr lang="en-US" sz="1200" dirty="0"/>
          </a:p>
        </p:txBody>
      </p:sp>
      <p:sp>
        <p:nvSpPr>
          <p:cNvPr id="7" name="Text 5"/>
          <p:cNvSpPr txBox="1"/>
          <p:nvPr/>
        </p:nvSpPr>
        <p:spPr>
          <a:xfrm>
            <a:off x="685800" y="2359152"/>
            <a:ext cx="2361438" cy="530352"/>
          </a:xfrm>
          <a:prstGeom prst="rect">
            <a:avLst/>
          </a:prstGeom>
          <a:noFill/>
          <a:ln/>
        </p:spPr>
        <p:txBody>
          <a:bodyPr wrap="square" lIns="0" tIns="0" rIns="0" bIns="0" rtlCol="0" anchor="t"/>
          <a:lstStyle/>
          <a:p>
            <a:pPr indent="0" marL="0">
              <a:buNone/>
            </a:pPr>
            <a:r>
              <a:rPr lang="en-US" sz="1100" dirty="0">
                <a:solidFill>
                  <a:srgbClr val="6B665A"/>
                </a:solidFill>
                <a:latin typeface="Calibri" pitchFamily="34" charset="0"/>
                <a:ea typeface="Calibri" pitchFamily="34" charset="-122"/>
                <a:cs typeface="Calibri" pitchFamily="34" charset="-120"/>
              </a:rPr>
              <a:t>Student, Company, Internship, Application, Administrator</a:t>
            </a:r>
            <a:endParaRPr lang="en-US" sz="1100" dirty="0"/>
          </a:p>
        </p:txBody>
      </p:sp>
      <p:sp>
        <p:nvSpPr>
          <p:cNvPr id="8" name="Shape 6"/>
          <p:cNvSpPr/>
          <p:nvPr/>
        </p:nvSpPr>
        <p:spPr>
          <a:xfrm>
            <a:off x="3367278" y="1463040"/>
            <a:ext cx="2635758" cy="1463040"/>
          </a:xfrm>
          <a:prstGeom prst="rect">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9" name="Text 7"/>
          <p:cNvSpPr txBox="1"/>
          <p:nvPr/>
        </p:nvSpPr>
        <p:spPr>
          <a:xfrm>
            <a:off x="3504438" y="1554480"/>
            <a:ext cx="2361438" cy="274320"/>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Encapsulation</a:t>
            </a:r>
            <a:endParaRPr lang="en-US" sz="1400" dirty="0"/>
          </a:p>
        </p:txBody>
      </p:sp>
      <p:sp>
        <p:nvSpPr>
          <p:cNvPr id="10" name="Text 8"/>
          <p:cNvSpPr txBox="1"/>
          <p:nvPr/>
        </p:nvSpPr>
        <p:spPr>
          <a:xfrm>
            <a:off x="3504438" y="1865376"/>
            <a:ext cx="2361438" cy="457200"/>
          </a:xfrm>
          <a:prstGeom prst="rect">
            <a:avLst/>
          </a:prstGeom>
          <a:noFill/>
          <a:ln/>
        </p:spPr>
        <p:txBody>
          <a:bodyPr wrap="square" lIns="0" tIns="0" rIns="0" bIns="0" rtlCol="0" anchor="t"/>
          <a:lstStyle/>
          <a:p>
            <a:pPr indent="0" marL="0">
              <a:buNone/>
            </a:pPr>
            <a:r>
              <a:rPr lang="en-US" sz="1200" b="1" dirty="0">
                <a:solidFill>
                  <a:schemeClr val="tx1"/>
                </a:solidFill>
                <a:latin typeface="Calibri" pitchFamily="34" charset="0"/>
                <a:ea typeface="Calibri" pitchFamily="34" charset="-122"/>
                <a:cs typeface="Calibri" pitchFamily="34" charset="-120"/>
              </a:rPr>
              <a:t>A locked cabinet with a front desk</a:t>
            </a:r>
            <a:endParaRPr lang="en-US" sz="1200" dirty="0"/>
          </a:p>
        </p:txBody>
      </p:sp>
      <p:sp>
        <p:nvSpPr>
          <p:cNvPr id="11" name="Text 9"/>
          <p:cNvSpPr txBox="1"/>
          <p:nvPr/>
        </p:nvSpPr>
        <p:spPr>
          <a:xfrm>
            <a:off x="3504438" y="2359152"/>
            <a:ext cx="2361438" cy="530352"/>
          </a:xfrm>
          <a:prstGeom prst="rect">
            <a:avLst/>
          </a:prstGeom>
          <a:noFill/>
          <a:ln/>
        </p:spPr>
        <p:txBody>
          <a:bodyPr wrap="square" lIns="0" tIns="0" rIns="0" bIns="0" rtlCol="0" anchor="t"/>
          <a:lstStyle/>
          <a:p>
            <a:pPr indent="0" marL="0">
              <a:buNone/>
            </a:pPr>
            <a:r>
              <a:rPr lang="en-US" sz="1100" dirty="0">
                <a:solidFill>
                  <a:srgbClr val="6B665A"/>
                </a:solidFill>
                <a:latin typeface="Calibri" pitchFamily="34" charset="0"/>
                <a:ea typeface="Calibri" pitchFamily="34" charset="-122"/>
                <a:cs typeface="Calibri" pitchFamily="34" charset="-120"/>
              </a:rPr>
              <a:t>Private fields and validating setters</a:t>
            </a:r>
            <a:endParaRPr lang="en-US" sz="1100" dirty="0"/>
          </a:p>
        </p:txBody>
      </p:sp>
      <p:sp>
        <p:nvSpPr>
          <p:cNvPr id="12" name="Shape 10"/>
          <p:cNvSpPr/>
          <p:nvPr/>
        </p:nvSpPr>
        <p:spPr>
          <a:xfrm>
            <a:off x="6185916" y="1463040"/>
            <a:ext cx="2635758" cy="1463040"/>
          </a:xfrm>
          <a:prstGeom prst="rect">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13" name="Text 11"/>
          <p:cNvSpPr txBox="1"/>
          <p:nvPr/>
        </p:nvSpPr>
        <p:spPr>
          <a:xfrm>
            <a:off x="6323076" y="1554480"/>
            <a:ext cx="2361438" cy="274320"/>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Inheritance</a:t>
            </a:r>
            <a:endParaRPr lang="en-US" sz="1400" dirty="0"/>
          </a:p>
        </p:txBody>
      </p:sp>
      <p:sp>
        <p:nvSpPr>
          <p:cNvPr id="14" name="Text 12"/>
          <p:cNvSpPr txBox="1"/>
          <p:nvPr/>
        </p:nvSpPr>
        <p:spPr>
          <a:xfrm>
            <a:off x="6323076" y="1865376"/>
            <a:ext cx="2361438" cy="457200"/>
          </a:xfrm>
          <a:prstGeom prst="rect">
            <a:avLst/>
          </a:prstGeom>
          <a:noFill/>
          <a:ln/>
        </p:spPr>
        <p:txBody>
          <a:bodyPr wrap="square" lIns="0" tIns="0" rIns="0" bIns="0" rtlCol="0" anchor="t"/>
          <a:lstStyle/>
          <a:p>
            <a:pPr indent="0" marL="0">
              <a:buNone/>
            </a:pPr>
            <a:r>
              <a:rPr lang="en-US" sz="1200" b="1" dirty="0">
                <a:solidFill>
                  <a:schemeClr val="tx1"/>
                </a:solidFill>
                <a:latin typeface="Calibri" pitchFamily="34" charset="0"/>
                <a:ea typeface="Calibri" pitchFamily="34" charset="-122"/>
                <a:cs typeface="Calibri" pitchFamily="34" charset="-120"/>
              </a:rPr>
              <a:t>A family tree of users</a:t>
            </a:r>
            <a:endParaRPr lang="en-US" sz="1200" dirty="0"/>
          </a:p>
        </p:txBody>
      </p:sp>
      <p:sp>
        <p:nvSpPr>
          <p:cNvPr id="15" name="Text 13"/>
          <p:cNvSpPr txBox="1"/>
          <p:nvPr/>
        </p:nvSpPr>
        <p:spPr>
          <a:xfrm>
            <a:off x="6323076" y="2359152"/>
            <a:ext cx="2361438" cy="530352"/>
          </a:xfrm>
          <a:prstGeom prst="rect">
            <a:avLst/>
          </a:prstGeom>
          <a:noFill/>
          <a:ln/>
        </p:spPr>
        <p:txBody>
          <a:bodyPr wrap="square" lIns="0" tIns="0" rIns="0" bIns="0" rtlCol="0" anchor="t"/>
          <a:lstStyle/>
          <a:p>
            <a:pPr indent="0" marL="0">
              <a:buNone/>
            </a:pPr>
            <a:r>
              <a:rPr lang="en-US" sz="1100" dirty="0">
                <a:solidFill>
                  <a:srgbClr val="6B665A"/>
                </a:solidFill>
                <a:latin typeface="Calibri" pitchFamily="34" charset="0"/>
                <a:ea typeface="Calibri" pitchFamily="34" charset="-122"/>
                <a:cs typeface="Calibri" pitchFamily="34" charset="-120"/>
              </a:rPr>
              <a:t>Student, CompanyRepresentative and Administrator extend User</a:t>
            </a:r>
            <a:endParaRPr lang="en-US" sz="1100" dirty="0"/>
          </a:p>
        </p:txBody>
      </p:sp>
      <p:sp>
        <p:nvSpPr>
          <p:cNvPr id="16" name="Shape 14"/>
          <p:cNvSpPr/>
          <p:nvPr/>
        </p:nvSpPr>
        <p:spPr>
          <a:xfrm>
            <a:off x="9004554" y="1463040"/>
            <a:ext cx="2635758" cy="1463040"/>
          </a:xfrm>
          <a:prstGeom prst="rect">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17" name="Text 15"/>
          <p:cNvSpPr txBox="1"/>
          <p:nvPr/>
        </p:nvSpPr>
        <p:spPr>
          <a:xfrm>
            <a:off x="9141714" y="1554480"/>
            <a:ext cx="2361438" cy="274320"/>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Polymorphism</a:t>
            </a:r>
            <a:endParaRPr lang="en-US" sz="1400" dirty="0"/>
          </a:p>
        </p:txBody>
      </p:sp>
      <p:sp>
        <p:nvSpPr>
          <p:cNvPr id="18" name="Text 16"/>
          <p:cNvSpPr txBox="1"/>
          <p:nvPr/>
        </p:nvSpPr>
        <p:spPr>
          <a:xfrm>
            <a:off x="9141714" y="1865376"/>
            <a:ext cx="2361438" cy="457200"/>
          </a:xfrm>
          <a:prstGeom prst="rect">
            <a:avLst/>
          </a:prstGeom>
          <a:noFill/>
          <a:ln/>
        </p:spPr>
        <p:txBody>
          <a:bodyPr wrap="square" lIns="0" tIns="0" rIns="0" bIns="0" rtlCol="0" anchor="t"/>
          <a:lstStyle/>
          <a:p>
            <a:pPr indent="0" marL="0">
              <a:buNone/>
            </a:pPr>
            <a:r>
              <a:rPr lang="en-US" sz="1200" b="1" dirty="0">
                <a:solidFill>
                  <a:schemeClr val="tx1"/>
                </a:solidFill>
                <a:latin typeface="Calibri" pitchFamily="34" charset="0"/>
                <a:ea typeface="Calibri" pitchFamily="34" charset="-122"/>
                <a:cs typeface="Calibri" pitchFamily="34" charset="-120"/>
              </a:rPr>
              <a:t>Same question, each role answers its own way</a:t>
            </a:r>
            <a:endParaRPr lang="en-US" sz="1200" dirty="0"/>
          </a:p>
        </p:txBody>
      </p:sp>
      <p:sp>
        <p:nvSpPr>
          <p:cNvPr id="19" name="Text 17"/>
          <p:cNvSpPr txBox="1"/>
          <p:nvPr/>
        </p:nvSpPr>
        <p:spPr>
          <a:xfrm>
            <a:off x="9141714" y="2359152"/>
            <a:ext cx="2361438" cy="530352"/>
          </a:xfrm>
          <a:prstGeom prst="rect">
            <a:avLst/>
          </a:prstGeom>
          <a:noFill/>
          <a:ln/>
        </p:spPr>
        <p:txBody>
          <a:bodyPr wrap="square" lIns="0" tIns="0" rIns="0" bIns="0" rtlCol="0" anchor="t"/>
          <a:lstStyle/>
          <a:p>
            <a:pPr indent="0" marL="0">
              <a:buNone/>
            </a:pPr>
            <a:r>
              <a:rPr lang="en-US" sz="1100" dirty="0">
                <a:solidFill>
                  <a:srgbClr val="6B665A"/>
                </a:solidFill>
                <a:latin typeface="Calibri" pitchFamily="34" charset="0"/>
                <a:ea typeface="Calibri" pitchFamily="34" charset="-122"/>
                <a:cs typeface="Calibri" pitchFamily="34" charset="-120"/>
              </a:rPr>
              <a:t>getMenuLinks() per role; overloaded search()</a:t>
            </a:r>
            <a:endParaRPr lang="en-US" sz="1100" dirty="0"/>
          </a:p>
        </p:txBody>
      </p:sp>
      <p:sp>
        <p:nvSpPr>
          <p:cNvPr id="20" name="Shape 18"/>
          <p:cNvSpPr/>
          <p:nvPr/>
        </p:nvSpPr>
        <p:spPr>
          <a:xfrm>
            <a:off x="548640" y="3108960"/>
            <a:ext cx="2635758" cy="1463040"/>
          </a:xfrm>
          <a:prstGeom prst="rect">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21" name="Text 19"/>
          <p:cNvSpPr txBox="1"/>
          <p:nvPr/>
        </p:nvSpPr>
        <p:spPr>
          <a:xfrm>
            <a:off x="685800" y="3200400"/>
            <a:ext cx="2361438" cy="274320"/>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Abstraction</a:t>
            </a:r>
            <a:endParaRPr lang="en-US" sz="1400" dirty="0"/>
          </a:p>
        </p:txBody>
      </p:sp>
      <p:sp>
        <p:nvSpPr>
          <p:cNvPr id="22" name="Text 20"/>
          <p:cNvSpPr txBox="1"/>
          <p:nvPr/>
        </p:nvSpPr>
        <p:spPr>
          <a:xfrm>
            <a:off x="685800" y="3511296"/>
            <a:ext cx="2361438" cy="457200"/>
          </a:xfrm>
          <a:prstGeom prst="rect">
            <a:avLst/>
          </a:prstGeom>
          <a:noFill/>
          <a:ln/>
        </p:spPr>
        <p:txBody>
          <a:bodyPr wrap="square" lIns="0" tIns="0" rIns="0" bIns="0" rtlCol="0" anchor="t"/>
          <a:lstStyle/>
          <a:p>
            <a:pPr indent="0" marL="0">
              <a:buNone/>
            </a:pPr>
            <a:r>
              <a:rPr lang="en-US" sz="1200" b="1" dirty="0">
                <a:solidFill>
                  <a:schemeClr val="tx1"/>
                </a:solidFill>
                <a:latin typeface="Calibri" pitchFamily="34" charset="0"/>
                <a:ea typeface="Calibri" pitchFamily="34" charset="-122"/>
                <a:cs typeface="Calibri" pitchFamily="34" charset="-120"/>
              </a:rPr>
              <a:t>Ask for “a user”, not a role</a:t>
            </a:r>
            <a:endParaRPr lang="en-US" sz="1200" dirty="0"/>
          </a:p>
        </p:txBody>
      </p:sp>
      <p:sp>
        <p:nvSpPr>
          <p:cNvPr id="23" name="Text 21"/>
          <p:cNvSpPr txBox="1"/>
          <p:nvPr/>
        </p:nvSpPr>
        <p:spPr>
          <a:xfrm>
            <a:off x="685800" y="4005072"/>
            <a:ext cx="2361438" cy="530352"/>
          </a:xfrm>
          <a:prstGeom prst="rect">
            <a:avLst/>
          </a:prstGeom>
          <a:noFill/>
          <a:ln/>
        </p:spPr>
        <p:txBody>
          <a:bodyPr wrap="square" lIns="0" tIns="0" rIns="0" bIns="0" rtlCol="0" anchor="t"/>
          <a:lstStyle/>
          <a:p>
            <a:pPr indent="0" marL="0">
              <a:buNone/>
            </a:pPr>
            <a:r>
              <a:rPr lang="en-US" sz="1100" dirty="0">
                <a:solidFill>
                  <a:srgbClr val="6B665A"/>
                </a:solidFill>
                <a:latin typeface="Calibri" pitchFamily="34" charset="0"/>
                <a:ea typeface="Calibri" pitchFamily="34" charset="-122"/>
                <a:cs typeface="Calibri" pitchFamily="34" charset="-120"/>
              </a:rPr>
              <a:t>abstract User with three abstract methods</a:t>
            </a:r>
            <a:endParaRPr lang="en-US" sz="1100" dirty="0"/>
          </a:p>
        </p:txBody>
      </p:sp>
      <p:sp>
        <p:nvSpPr>
          <p:cNvPr id="24" name="Shape 22"/>
          <p:cNvSpPr/>
          <p:nvPr/>
        </p:nvSpPr>
        <p:spPr>
          <a:xfrm>
            <a:off x="3367278" y="3108960"/>
            <a:ext cx="2635758" cy="1463040"/>
          </a:xfrm>
          <a:prstGeom prst="rect">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25" name="Text 23"/>
          <p:cNvSpPr txBox="1"/>
          <p:nvPr/>
        </p:nvSpPr>
        <p:spPr>
          <a:xfrm>
            <a:off x="3504438" y="3200400"/>
            <a:ext cx="2361438" cy="274320"/>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Interfaces</a:t>
            </a:r>
            <a:endParaRPr lang="en-US" sz="1400" dirty="0"/>
          </a:p>
        </p:txBody>
      </p:sp>
      <p:sp>
        <p:nvSpPr>
          <p:cNvPr id="26" name="Text 24"/>
          <p:cNvSpPr txBox="1"/>
          <p:nvPr/>
        </p:nvSpPr>
        <p:spPr>
          <a:xfrm>
            <a:off x="3504438" y="3511296"/>
            <a:ext cx="2361438" cy="457200"/>
          </a:xfrm>
          <a:prstGeom prst="rect">
            <a:avLst/>
          </a:prstGeom>
          <a:noFill/>
          <a:ln/>
        </p:spPr>
        <p:txBody>
          <a:bodyPr wrap="square" lIns="0" tIns="0" rIns="0" bIns="0" rtlCol="0" anchor="t"/>
          <a:lstStyle/>
          <a:p>
            <a:pPr indent="0" marL="0">
              <a:buNone/>
            </a:pPr>
            <a:r>
              <a:rPr lang="en-US" sz="1200" b="1" dirty="0">
                <a:solidFill>
                  <a:schemeClr val="tx1"/>
                </a:solidFill>
                <a:latin typeface="Calibri" pitchFamily="34" charset="0"/>
                <a:ea typeface="Calibri" pitchFamily="34" charset="-122"/>
                <a:cs typeface="Calibri" pitchFamily="34" charset="-120"/>
              </a:rPr>
              <a:t>A badge any service can wear</a:t>
            </a:r>
            <a:endParaRPr lang="en-US" sz="1200" dirty="0"/>
          </a:p>
        </p:txBody>
      </p:sp>
      <p:sp>
        <p:nvSpPr>
          <p:cNvPr id="27" name="Text 25"/>
          <p:cNvSpPr txBox="1"/>
          <p:nvPr/>
        </p:nvSpPr>
        <p:spPr>
          <a:xfrm>
            <a:off x="3504438" y="4005072"/>
            <a:ext cx="2361438" cy="530352"/>
          </a:xfrm>
          <a:prstGeom prst="rect">
            <a:avLst/>
          </a:prstGeom>
          <a:noFill/>
          <a:ln/>
        </p:spPr>
        <p:txBody>
          <a:bodyPr wrap="square" lIns="0" tIns="0" rIns="0" bIns="0" rtlCol="0" anchor="t"/>
          <a:lstStyle/>
          <a:p>
            <a:pPr indent="0" marL="0">
              <a:buNone/>
            </a:pPr>
            <a:r>
              <a:rPr lang="en-US" sz="1100" dirty="0">
                <a:solidFill>
                  <a:srgbClr val="6B665A"/>
                </a:solidFill>
                <a:latin typeface="Calibri" pitchFamily="34" charset="0"/>
                <a:ea typeface="Calibri" pitchFamily="34" charset="-122"/>
                <a:cs typeface="Calibri" pitchFamily="34" charset="-120"/>
              </a:rPr>
              <a:t>Manageable&lt;T&gt;, Searchable&lt;T&gt;, Applicable</a:t>
            </a:r>
            <a:endParaRPr lang="en-US" sz="1100" dirty="0"/>
          </a:p>
        </p:txBody>
      </p:sp>
      <p:sp>
        <p:nvSpPr>
          <p:cNvPr id="28" name="Shape 26"/>
          <p:cNvSpPr/>
          <p:nvPr/>
        </p:nvSpPr>
        <p:spPr>
          <a:xfrm>
            <a:off x="6185916" y="3108960"/>
            <a:ext cx="2635758" cy="1463040"/>
          </a:xfrm>
          <a:prstGeom prst="rect">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29" name="Text 27"/>
          <p:cNvSpPr txBox="1"/>
          <p:nvPr/>
        </p:nvSpPr>
        <p:spPr>
          <a:xfrm>
            <a:off x="6323076" y="3200400"/>
            <a:ext cx="2361438" cy="274320"/>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Collections</a:t>
            </a:r>
            <a:endParaRPr lang="en-US" sz="1400" dirty="0"/>
          </a:p>
        </p:txBody>
      </p:sp>
      <p:sp>
        <p:nvSpPr>
          <p:cNvPr id="30" name="Text 28"/>
          <p:cNvSpPr txBox="1"/>
          <p:nvPr/>
        </p:nvSpPr>
        <p:spPr>
          <a:xfrm>
            <a:off x="6323076" y="3511296"/>
            <a:ext cx="2361438" cy="457200"/>
          </a:xfrm>
          <a:prstGeom prst="rect">
            <a:avLst/>
          </a:prstGeom>
          <a:noFill/>
          <a:ln/>
        </p:spPr>
        <p:txBody>
          <a:bodyPr wrap="square" lIns="0" tIns="0" rIns="0" bIns="0" rtlCol="0" anchor="t"/>
          <a:lstStyle/>
          <a:p>
            <a:pPr indent="0" marL="0">
              <a:buNone/>
            </a:pPr>
            <a:r>
              <a:rPr lang="en-US" sz="1200" b="1" dirty="0">
                <a:solidFill>
                  <a:schemeClr val="tx1"/>
                </a:solidFill>
                <a:latin typeface="Calibri" pitchFamily="34" charset="0"/>
                <a:ea typeface="Calibri" pitchFamily="34" charset="-122"/>
                <a:cs typeface="Calibri" pitchFamily="34" charset="-120"/>
              </a:rPr>
              <a:t>Shelves and lookup lists</a:t>
            </a:r>
            <a:endParaRPr lang="en-US" sz="1200" dirty="0"/>
          </a:p>
        </p:txBody>
      </p:sp>
      <p:sp>
        <p:nvSpPr>
          <p:cNvPr id="31" name="Text 29"/>
          <p:cNvSpPr txBox="1"/>
          <p:nvPr/>
        </p:nvSpPr>
        <p:spPr>
          <a:xfrm>
            <a:off x="6323076" y="4005072"/>
            <a:ext cx="2361438" cy="530352"/>
          </a:xfrm>
          <a:prstGeom prst="rect">
            <a:avLst/>
          </a:prstGeom>
          <a:noFill/>
          <a:ln/>
        </p:spPr>
        <p:txBody>
          <a:bodyPr wrap="square" lIns="0" tIns="0" rIns="0" bIns="0" rtlCol="0" anchor="t"/>
          <a:lstStyle/>
          <a:p>
            <a:pPr indent="0" marL="0">
              <a:buNone/>
            </a:pPr>
            <a:r>
              <a:rPr lang="en-US" sz="1100" dirty="0">
                <a:solidFill>
                  <a:srgbClr val="6B665A"/>
                </a:solidFill>
                <a:latin typeface="Calibri" pitchFamily="34" charset="0"/>
                <a:ea typeface="Calibri" pitchFamily="34" charset="-122"/>
                <a:cs typeface="Calibri" pitchFamily="34" charset="-120"/>
              </a:rPr>
              <a:t>LinkedHashMap, ArrayList, HashMap for sessions</a:t>
            </a:r>
            <a:endParaRPr lang="en-US" sz="1100" dirty="0"/>
          </a:p>
        </p:txBody>
      </p:sp>
      <p:sp>
        <p:nvSpPr>
          <p:cNvPr id="32" name="Shape 30"/>
          <p:cNvSpPr/>
          <p:nvPr/>
        </p:nvSpPr>
        <p:spPr>
          <a:xfrm>
            <a:off x="9004554" y="3108960"/>
            <a:ext cx="2635758" cy="1463040"/>
          </a:xfrm>
          <a:prstGeom prst="rect">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33" name="Text 31"/>
          <p:cNvSpPr txBox="1"/>
          <p:nvPr/>
        </p:nvSpPr>
        <p:spPr>
          <a:xfrm>
            <a:off x="9141714" y="3200400"/>
            <a:ext cx="2361438" cy="274320"/>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Exceptions</a:t>
            </a:r>
            <a:endParaRPr lang="en-US" sz="1400" dirty="0"/>
          </a:p>
        </p:txBody>
      </p:sp>
      <p:sp>
        <p:nvSpPr>
          <p:cNvPr id="34" name="Text 32"/>
          <p:cNvSpPr txBox="1"/>
          <p:nvPr/>
        </p:nvSpPr>
        <p:spPr>
          <a:xfrm>
            <a:off x="9141714" y="3511296"/>
            <a:ext cx="2361438" cy="457200"/>
          </a:xfrm>
          <a:prstGeom prst="rect">
            <a:avLst/>
          </a:prstGeom>
          <a:noFill/>
          <a:ln/>
        </p:spPr>
        <p:txBody>
          <a:bodyPr wrap="square" lIns="0" tIns="0" rIns="0" bIns="0" rtlCol="0" anchor="t"/>
          <a:lstStyle/>
          <a:p>
            <a:pPr indent="0" marL="0">
              <a:buNone/>
            </a:pPr>
            <a:r>
              <a:rPr lang="en-US" sz="1200" b="1" dirty="0">
                <a:solidFill>
                  <a:schemeClr val="tx1"/>
                </a:solidFill>
                <a:latin typeface="Calibri" pitchFamily="34" charset="0"/>
                <a:ea typeface="Calibri" pitchFamily="34" charset="-122"/>
                <a:cs typeface="Calibri" pitchFamily="34" charset="-120"/>
              </a:rPr>
              <a:t>A smoke alarm, not a crash</a:t>
            </a:r>
            <a:endParaRPr lang="en-US" sz="1200" dirty="0"/>
          </a:p>
        </p:txBody>
      </p:sp>
      <p:sp>
        <p:nvSpPr>
          <p:cNvPr id="35" name="Text 33"/>
          <p:cNvSpPr txBox="1"/>
          <p:nvPr/>
        </p:nvSpPr>
        <p:spPr>
          <a:xfrm>
            <a:off x="9141714" y="4005072"/>
            <a:ext cx="2361438" cy="530352"/>
          </a:xfrm>
          <a:prstGeom prst="rect">
            <a:avLst/>
          </a:prstGeom>
          <a:noFill/>
          <a:ln/>
        </p:spPr>
        <p:txBody>
          <a:bodyPr wrap="square" lIns="0" tIns="0" rIns="0" bIns="0" rtlCol="0" anchor="t"/>
          <a:lstStyle/>
          <a:p>
            <a:pPr indent="0" marL="0">
              <a:buNone/>
            </a:pPr>
            <a:r>
              <a:rPr lang="en-US" sz="1100" dirty="0">
                <a:solidFill>
                  <a:srgbClr val="6B665A"/>
                </a:solidFill>
                <a:latin typeface="Calibri" pitchFamily="34" charset="0"/>
                <a:ea typeface="Calibri" pitchFamily="34" charset="-122"/>
                <a:cs typeface="Calibri" pitchFamily="34" charset="-120"/>
              </a:rPr>
              <a:t>InternshipSystemException and 6 specific errors, shown as a message</a:t>
            </a:r>
            <a:endParaRPr lang="en-US" sz="1100" dirty="0"/>
          </a:p>
        </p:txBody>
      </p:sp>
      <p:sp>
        <p:nvSpPr>
          <p:cNvPr id="36" name="Shape 34"/>
          <p:cNvSpPr/>
          <p:nvPr/>
        </p:nvSpPr>
        <p:spPr>
          <a:xfrm>
            <a:off x="548640" y="4754880"/>
            <a:ext cx="2635758" cy="1463040"/>
          </a:xfrm>
          <a:prstGeom prst="rect">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37" name="Text 35"/>
          <p:cNvSpPr txBox="1"/>
          <p:nvPr/>
        </p:nvSpPr>
        <p:spPr>
          <a:xfrm>
            <a:off x="685800" y="4846320"/>
            <a:ext cx="2361438" cy="274320"/>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File handling</a:t>
            </a:r>
            <a:endParaRPr lang="en-US" sz="1400" dirty="0"/>
          </a:p>
        </p:txBody>
      </p:sp>
      <p:sp>
        <p:nvSpPr>
          <p:cNvPr id="38" name="Text 36"/>
          <p:cNvSpPr txBox="1"/>
          <p:nvPr/>
        </p:nvSpPr>
        <p:spPr>
          <a:xfrm>
            <a:off x="685800" y="5157216"/>
            <a:ext cx="2361438" cy="457200"/>
          </a:xfrm>
          <a:prstGeom prst="rect">
            <a:avLst/>
          </a:prstGeom>
          <a:noFill/>
          <a:ln/>
        </p:spPr>
        <p:txBody>
          <a:bodyPr wrap="square" lIns="0" tIns="0" rIns="0" bIns="0" rtlCol="0" anchor="t"/>
          <a:lstStyle/>
          <a:p>
            <a:pPr indent="0" marL="0">
              <a:buNone/>
            </a:pPr>
            <a:r>
              <a:rPr lang="en-US" sz="1200" b="1" dirty="0">
                <a:solidFill>
                  <a:schemeClr val="tx1"/>
                </a:solidFill>
                <a:latin typeface="Calibri" pitchFamily="34" charset="0"/>
                <a:ea typeface="Calibri" pitchFamily="34" charset="-122"/>
                <a:cs typeface="Calibri" pitchFamily="34" charset="-120"/>
              </a:rPr>
              <a:t>A save game</a:t>
            </a:r>
            <a:endParaRPr lang="en-US" sz="1200" dirty="0"/>
          </a:p>
        </p:txBody>
      </p:sp>
      <p:sp>
        <p:nvSpPr>
          <p:cNvPr id="39" name="Text 37"/>
          <p:cNvSpPr txBox="1"/>
          <p:nvPr/>
        </p:nvSpPr>
        <p:spPr>
          <a:xfrm>
            <a:off x="685800" y="5650992"/>
            <a:ext cx="2361438" cy="530352"/>
          </a:xfrm>
          <a:prstGeom prst="rect">
            <a:avLst/>
          </a:prstGeom>
          <a:noFill/>
          <a:ln/>
        </p:spPr>
        <p:txBody>
          <a:bodyPr wrap="square" lIns="0" tIns="0" rIns="0" bIns="0" rtlCol="0" anchor="t"/>
          <a:lstStyle/>
          <a:p>
            <a:pPr indent="0" marL="0">
              <a:buNone/>
            </a:pPr>
            <a:r>
              <a:rPr lang="en-US" sz="1100" dirty="0">
                <a:solidFill>
                  <a:srgbClr val="6B665A"/>
                </a:solidFill>
                <a:latin typeface="Calibri" pitchFamily="34" charset="0"/>
                <a:ea typeface="Calibri" pitchFamily="34" charset="-122"/>
                <a:cs typeface="Calibri" pitchFamily="34" charset="-120"/>
              </a:rPr>
              <a:t>DataStore writes four .dat files with object streams</a:t>
            </a:r>
            <a:endParaRPr lang="en-US" sz="1100" dirty="0"/>
          </a:p>
        </p:txBody>
      </p:sp>
      <p:sp>
        <p:nvSpPr>
          <p:cNvPr id="40" name="Shape 38"/>
          <p:cNvSpPr/>
          <p:nvPr/>
        </p:nvSpPr>
        <p:spPr>
          <a:xfrm>
            <a:off x="3367278" y="4754880"/>
            <a:ext cx="2635758" cy="1463040"/>
          </a:xfrm>
          <a:prstGeom prst="rect">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41" name="Text 39"/>
          <p:cNvSpPr txBox="1"/>
          <p:nvPr/>
        </p:nvSpPr>
        <p:spPr>
          <a:xfrm>
            <a:off x="3504438" y="4846320"/>
            <a:ext cx="2361438" cy="274320"/>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Generics</a:t>
            </a:r>
            <a:endParaRPr lang="en-US" sz="1400" dirty="0"/>
          </a:p>
        </p:txBody>
      </p:sp>
      <p:sp>
        <p:nvSpPr>
          <p:cNvPr id="42" name="Text 40"/>
          <p:cNvSpPr txBox="1"/>
          <p:nvPr/>
        </p:nvSpPr>
        <p:spPr>
          <a:xfrm>
            <a:off x="3504438" y="5157216"/>
            <a:ext cx="2361438" cy="457200"/>
          </a:xfrm>
          <a:prstGeom prst="rect">
            <a:avLst/>
          </a:prstGeom>
          <a:noFill/>
          <a:ln/>
        </p:spPr>
        <p:txBody>
          <a:bodyPr wrap="square" lIns="0" tIns="0" rIns="0" bIns="0" rtlCol="0" anchor="t"/>
          <a:lstStyle/>
          <a:p>
            <a:pPr indent="0" marL="0">
              <a:buNone/>
            </a:pPr>
            <a:r>
              <a:rPr lang="en-US" sz="1200" b="1" dirty="0">
                <a:solidFill>
                  <a:schemeClr val="tx1"/>
                </a:solidFill>
                <a:latin typeface="Calibri" pitchFamily="34" charset="0"/>
                <a:ea typeface="Calibri" pitchFamily="34" charset="-122"/>
                <a:cs typeface="Calibri" pitchFamily="34" charset="-120"/>
              </a:rPr>
              <a:t>A box labelled for what is inside</a:t>
            </a:r>
            <a:endParaRPr lang="en-US" sz="1200" dirty="0"/>
          </a:p>
        </p:txBody>
      </p:sp>
      <p:sp>
        <p:nvSpPr>
          <p:cNvPr id="43" name="Text 41"/>
          <p:cNvSpPr txBox="1"/>
          <p:nvPr/>
        </p:nvSpPr>
        <p:spPr>
          <a:xfrm>
            <a:off x="3504438" y="5650992"/>
            <a:ext cx="2361438" cy="530352"/>
          </a:xfrm>
          <a:prstGeom prst="rect">
            <a:avLst/>
          </a:prstGeom>
          <a:noFill/>
          <a:ln/>
        </p:spPr>
        <p:txBody>
          <a:bodyPr wrap="square" lIns="0" tIns="0" rIns="0" bIns="0" rtlCol="0" anchor="t"/>
          <a:lstStyle/>
          <a:p>
            <a:pPr indent="0" marL="0">
              <a:buNone/>
            </a:pPr>
            <a:r>
              <a:rPr lang="en-US" sz="1100" dirty="0">
                <a:solidFill>
                  <a:srgbClr val="6B665A"/>
                </a:solidFill>
                <a:latin typeface="Calibri" pitchFamily="34" charset="0"/>
                <a:ea typeface="Calibri" pitchFamily="34" charset="-122"/>
                <a:cs typeface="Calibri" pitchFamily="34" charset="-120"/>
              </a:rPr>
              <a:t>DataStore&lt;T&gt;, Searchable&lt;T&gt;, Manageable&lt;T&gt;</a:t>
            </a:r>
            <a:endParaRPr lang="en-US" sz="1100" dirty="0"/>
          </a:p>
        </p:txBody>
      </p:sp>
      <p:sp>
        <p:nvSpPr>
          <p:cNvPr id="44" name="Shape 42"/>
          <p:cNvSpPr/>
          <p:nvPr/>
        </p:nvSpPr>
        <p:spPr>
          <a:xfrm>
            <a:off x="6185916" y="4754880"/>
            <a:ext cx="2635758" cy="1463040"/>
          </a:xfrm>
          <a:prstGeom prst="rect">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45" name="Text 43"/>
          <p:cNvSpPr txBox="1"/>
          <p:nvPr/>
        </p:nvSpPr>
        <p:spPr>
          <a:xfrm>
            <a:off x="6323076" y="4846320"/>
            <a:ext cx="2361438" cy="274320"/>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Packages</a:t>
            </a:r>
            <a:endParaRPr lang="en-US" sz="1400" dirty="0"/>
          </a:p>
        </p:txBody>
      </p:sp>
      <p:sp>
        <p:nvSpPr>
          <p:cNvPr id="46" name="Text 44"/>
          <p:cNvSpPr txBox="1"/>
          <p:nvPr/>
        </p:nvSpPr>
        <p:spPr>
          <a:xfrm>
            <a:off x="6323076" y="5157216"/>
            <a:ext cx="2361438" cy="457200"/>
          </a:xfrm>
          <a:prstGeom prst="rect">
            <a:avLst/>
          </a:prstGeom>
          <a:noFill/>
          <a:ln/>
        </p:spPr>
        <p:txBody>
          <a:bodyPr wrap="square" lIns="0" tIns="0" rIns="0" bIns="0" rtlCol="0" anchor="t"/>
          <a:lstStyle/>
          <a:p>
            <a:pPr indent="0" marL="0">
              <a:buNone/>
            </a:pPr>
            <a:r>
              <a:rPr lang="en-US" sz="1200" b="1" dirty="0">
                <a:solidFill>
                  <a:schemeClr val="tx1"/>
                </a:solidFill>
                <a:latin typeface="Calibri" pitchFamily="34" charset="0"/>
                <a:ea typeface="Calibri" pitchFamily="34" charset="-122"/>
                <a:cs typeface="Calibri" pitchFamily="34" charset="-120"/>
              </a:rPr>
              <a:t>Departments of one company</a:t>
            </a:r>
            <a:endParaRPr lang="en-US" sz="1200" dirty="0"/>
          </a:p>
        </p:txBody>
      </p:sp>
      <p:sp>
        <p:nvSpPr>
          <p:cNvPr id="47" name="Text 45"/>
          <p:cNvSpPr txBox="1"/>
          <p:nvPr/>
        </p:nvSpPr>
        <p:spPr>
          <a:xfrm>
            <a:off x="6323076" y="5650992"/>
            <a:ext cx="2361438" cy="530352"/>
          </a:xfrm>
          <a:prstGeom prst="rect">
            <a:avLst/>
          </a:prstGeom>
          <a:noFill/>
          <a:ln/>
        </p:spPr>
        <p:txBody>
          <a:bodyPr wrap="square" lIns="0" tIns="0" rIns="0" bIns="0" rtlCol="0" anchor="t"/>
          <a:lstStyle/>
          <a:p>
            <a:pPr indent="0" marL="0">
              <a:buNone/>
            </a:pPr>
            <a:r>
              <a:rPr lang="en-US" sz="1100" dirty="0">
                <a:solidFill>
                  <a:srgbClr val="6B665A"/>
                </a:solidFill>
                <a:latin typeface="Calibri" pitchFamily="34" charset="0"/>
                <a:ea typeface="Calibri" pitchFamily="34" charset="-122"/>
                <a:cs typeface="Calibri" pitchFamily="34" charset="-120"/>
              </a:rPr>
              <a:t>model, exception, service, util, web, main</a:t>
            </a:r>
            <a:endParaRPr lang="en-US" sz="1100" dirty="0"/>
          </a:p>
        </p:txBody>
      </p:sp>
      <p:sp>
        <p:nvSpPr>
          <p:cNvPr id="48" name="Shape 46"/>
          <p:cNvSpPr/>
          <p:nvPr/>
        </p:nvSpPr>
        <p:spPr>
          <a:xfrm>
            <a:off x="9004554" y="4754880"/>
            <a:ext cx="2635758" cy="1463040"/>
          </a:xfrm>
          <a:prstGeom prst="rect">
            <a:avLst/>
          </a:prstGeom>
          <a:solidFill>
            <a:schemeClr val="tx2"/>
          </a:solidFill>
          <a:ln w="12700">
            <a:solidFill>
              <a:schemeClr val="tx2"/>
            </a:solidFill>
            <a:prstDash val="solid"/>
          </a:ln>
          <a:effectLst>
            <a:outerShdw sx="100000" sy="100000" kx="0" ky="0" algn="bl" rotWithShape="0" blurRad="76200" dist="25400" dir="5400000">
              <a:srgbClr val="000000">
                <a:alpha val="12000"/>
              </a:srgbClr>
            </a:outerShdw>
          </a:effectLst>
        </p:spPr>
      </p:sp>
      <p:sp>
        <p:nvSpPr>
          <p:cNvPr id="49" name="Text 47"/>
          <p:cNvSpPr txBox="1"/>
          <p:nvPr/>
        </p:nvSpPr>
        <p:spPr>
          <a:xfrm>
            <a:off x="9141714" y="4846320"/>
            <a:ext cx="2361438" cy="274320"/>
          </a:xfrm>
          <a:prstGeom prst="rect">
            <a:avLst/>
          </a:prstGeom>
          <a:noFill/>
          <a:ln/>
        </p:spPr>
        <p:txBody>
          <a:bodyPr wrap="square" lIns="0" tIns="0" rIns="0" bIns="0" rtlCol="0" anchor="t"/>
          <a:lstStyle/>
          <a:p>
            <a:pPr indent="0" marL="0">
              <a:buNone/>
            </a:pPr>
            <a:r>
              <a:rPr lang="en-US" sz="1400" b="1" dirty="0">
                <a:solidFill>
                  <a:schemeClr val="accent2"/>
                </a:solidFill>
                <a:latin typeface="Calibri" pitchFamily="34" charset="0"/>
                <a:ea typeface="Calibri" pitchFamily="34" charset="-122"/>
                <a:cs typeface="Calibri" pitchFamily="34" charset="-120"/>
              </a:rPr>
              <a:t>Validation</a:t>
            </a:r>
            <a:endParaRPr lang="en-US" sz="1400" dirty="0"/>
          </a:p>
        </p:txBody>
      </p:sp>
      <p:sp>
        <p:nvSpPr>
          <p:cNvPr id="50" name="Text 48"/>
          <p:cNvSpPr txBox="1"/>
          <p:nvPr/>
        </p:nvSpPr>
        <p:spPr>
          <a:xfrm>
            <a:off x="9141714" y="5157216"/>
            <a:ext cx="2361438" cy="457200"/>
          </a:xfrm>
          <a:prstGeom prst="rect">
            <a:avLst/>
          </a:prstGeom>
          <a:noFill/>
          <a:ln/>
        </p:spPr>
        <p:txBody>
          <a:bodyPr wrap="square" lIns="0" tIns="0" rIns="0" bIns="0" rtlCol="0" anchor="t"/>
          <a:lstStyle/>
          <a:p>
            <a:pPr indent="0" marL="0">
              <a:buNone/>
            </a:pPr>
            <a:r>
              <a:rPr lang="en-US" sz="1200" b="1" dirty="0">
                <a:solidFill>
                  <a:schemeClr val="bg1"/>
                </a:solidFill>
                <a:latin typeface="Calibri" pitchFamily="34" charset="0"/>
                <a:ea typeface="Calibri" pitchFamily="34" charset="-122"/>
                <a:cs typeface="Calibri" pitchFamily="34" charset="-120"/>
              </a:rPr>
              <a:t>A bouncer at the door</a:t>
            </a:r>
            <a:endParaRPr lang="en-US" sz="1200" dirty="0"/>
          </a:p>
        </p:txBody>
      </p:sp>
      <p:sp>
        <p:nvSpPr>
          <p:cNvPr id="51" name="Text 49"/>
          <p:cNvSpPr txBox="1"/>
          <p:nvPr/>
        </p:nvSpPr>
        <p:spPr>
          <a:xfrm>
            <a:off x="9141714" y="5650992"/>
            <a:ext cx="2361438" cy="530352"/>
          </a:xfrm>
          <a:prstGeom prst="rect">
            <a:avLst/>
          </a:prstGeom>
          <a:noFill/>
          <a:ln/>
        </p:spPr>
        <p:txBody>
          <a:bodyPr wrap="square" lIns="0" tIns="0" rIns="0" bIns="0" rtlCol="0" anchor="t"/>
          <a:lstStyle/>
          <a:p>
            <a:pPr indent="0" marL="0">
              <a:buNone/>
            </a:pPr>
            <a:r>
              <a:rPr lang="en-US" sz="1100" dirty="0">
                <a:solidFill>
                  <a:srgbClr val="9FB0C8"/>
                </a:solidFill>
                <a:latin typeface="Calibri" pitchFamily="34" charset="0"/>
                <a:ea typeface="Calibri" pitchFamily="34" charset="-122"/>
                <a:cs typeface="Calibri" pitchFamily="34" charset="-120"/>
              </a:rPr>
              <a:t>Validator checks input; Html.esc escapes output</a:t>
            </a:r>
            <a:endParaRPr lang="en-US" sz="1100" dirty="0"/>
          </a:p>
        </p:txBody>
      </p:sp>
      <p:sp>
        <p:nvSpPr>
          <p:cNvPr id="52" name="Text 50"/>
          <p:cNvSpPr txBox="1"/>
          <p:nvPr/>
        </p:nvSpPr>
        <p:spPr>
          <a:xfrm>
            <a:off x="548640" y="6400800"/>
            <a:ext cx="9875520" cy="274320"/>
          </a:xfrm>
          <a:prstGeom prst="rect">
            <a:avLst/>
          </a:prstGeom>
          <a:noFill/>
          <a:ln/>
        </p:spPr>
        <p:txBody>
          <a:bodyPr wrap="square" lIns="0" tIns="0" rIns="0" bIns="0" rtlCol="0" anchor="t"/>
          <a:lstStyle/>
          <a:p>
            <a:pPr indent="0" marL="0">
              <a:buNone/>
            </a:pPr>
            <a:r>
              <a:rPr lang="en-US" sz="1000" dirty="0">
                <a:solidFill>
                  <a:srgbClr val="6B665A"/>
                </a:solidFill>
                <a:latin typeface="Calibri" pitchFamily="34" charset="0"/>
                <a:ea typeface="Calibri" pitchFamily="34" charset="-122"/>
                <a:cs typeface="Calibri" pitchFamily="34" charset="-120"/>
              </a:rPr>
              <a:t>Written in plain Java with no libraries · Source: report, Table II (requirements O1 to O11)</a:t>
            </a:r>
            <a:endParaRPr lang="en-US" sz="1000" dirty="0"/>
          </a:p>
        </p:txBody>
      </p:sp>
      <p:sp>
        <p:nvSpPr>
          <p:cNvPr id="25" name="Slide Number Placeholder 0"/>
          <p:cNvSpPr>
            <a:spLocks noGrp="1"/>
          </p:cNvSpPr>
          <p:nvPr>
            <p:ph type="sldNum" sz="quarter" idx="4294967295"/>
          </p:nvPr>
        </p:nvSpPr>
        <p:spPr>
          <a:xfrm>
            <a:off x="10698480" y="6400800"/>
            <a:ext cx="94183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65A"/>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292608"/>
            <a:ext cx="10058400" cy="256032"/>
          </a:xfrm>
          <a:prstGeom prst="rect">
            <a:avLst/>
          </a:prstGeom>
          <a:noFill/>
          <a:ln/>
        </p:spPr>
        <p:txBody>
          <a:bodyPr wrap="square" lIns="0" tIns="0" rIns="0" bIns="0" rtlCol="0" anchor="t"/>
          <a:lstStyle/>
          <a:p>
            <a:pPr indent="0" marL="0">
              <a:buNone/>
            </a:pPr>
            <a:r>
              <a:rPr lang="en-US" sz="1200" b="1" spc="300" kern="0" dirty="0">
                <a:solidFill>
                  <a:schemeClr val="accent1"/>
                </a:solidFill>
                <a:latin typeface="Calibri" pitchFamily="34" charset="0"/>
                <a:ea typeface="Calibri" pitchFamily="34" charset="-122"/>
                <a:cs typeface="Calibri" pitchFamily="34" charset="-120"/>
              </a:rPr>
              <a:t>THE BLUEPRINT</a:t>
            </a:r>
            <a:endParaRPr lang="en-US" sz="1200" dirty="0"/>
          </a:p>
        </p:txBody>
      </p:sp>
      <p:sp>
        <p:nvSpPr>
          <p:cNvPr id="3" name="Text 0"/>
          <p:cNvSpPr/>
          <p:nvPr>
            <p:ph idx="100"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3400" b="1" dirty="0">
                <a:solidFill>
                  <a:schemeClr val="tx1"/>
                </a:solidFill>
                <a:latin typeface="Calibri" pitchFamily="34" charset="0"/>
                <a:ea typeface="Calibri" pitchFamily="34" charset="-122"/>
                <a:cs typeface="Calibri" pitchFamily="34" charset="-120"/>
              </a:rPr>
              <a:t>UML class diagrams</a:t>
            </a:r>
            <a:endParaRPr lang="en-US" sz="3400" dirty="0"/>
          </a:p>
        </p:txBody>
      </p:sp>
      <p:sp>
        <p:nvSpPr>
          <p:cNvPr id="4" name="Shape 2"/>
          <p:cNvSpPr/>
          <p:nvPr/>
        </p:nvSpPr>
        <p:spPr>
          <a:xfrm>
            <a:off x="548640" y="1463040"/>
            <a:ext cx="4023360" cy="4709160"/>
          </a:xfrm>
          <a:prstGeom prst="rect">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pic>
        <p:nvPicPr>
          <p:cNvPr id="5" name="Image 0" descr="UML domain model class diagram">    </p:cNvPr>
          <p:cNvPicPr>
            <a:picLocks noChangeAspect="1"/>
          </p:cNvPicPr>
          <p:nvPr/>
        </p:nvPicPr>
        <p:blipFill>
          <a:blip r:embed="rId1"/>
          <a:stretch>
            <a:fillRect/>
          </a:stretch>
        </p:blipFill>
        <p:spPr>
          <a:xfrm>
            <a:off x="731520" y="1600200"/>
            <a:ext cx="3657600" cy="4023360"/>
          </a:xfrm>
          <a:prstGeom prst="rect">
            <a:avLst/>
          </a:prstGeom>
        </p:spPr>
      </p:pic>
      <p:sp>
        <p:nvSpPr>
          <p:cNvPr id="6" name="Text 3"/>
          <p:cNvSpPr txBox="1"/>
          <p:nvPr/>
        </p:nvSpPr>
        <p:spPr>
          <a:xfrm>
            <a:off x="685800" y="5715000"/>
            <a:ext cx="3749040" cy="274320"/>
          </a:xfrm>
          <a:prstGeom prst="rect">
            <a:avLst/>
          </a:prstGeom>
          <a:noFill/>
          <a:ln/>
        </p:spPr>
        <p:txBody>
          <a:bodyPr wrap="square" lIns="0" tIns="0" rIns="0" bIns="0" rtlCol="0" anchor="t"/>
          <a:lstStyle/>
          <a:p>
            <a:pPr algn="ctr" indent="0" marL="0">
              <a:buNone/>
            </a:pPr>
            <a:r>
              <a:rPr lang="en-US" sz="1300" i="1" dirty="0">
                <a:solidFill>
                  <a:srgbClr val="6B665A"/>
                </a:solidFill>
                <a:latin typeface="Calibri" pitchFamily="34" charset="0"/>
                <a:ea typeface="Calibri" pitchFamily="34" charset="-122"/>
                <a:cs typeface="Calibri" pitchFamily="34" charset="-120"/>
              </a:rPr>
              <a:t>Domain model</a:t>
            </a:r>
            <a:endParaRPr lang="en-US" sz="1300" dirty="0"/>
          </a:p>
        </p:txBody>
      </p:sp>
      <p:sp>
        <p:nvSpPr>
          <p:cNvPr id="7" name="Shape 4"/>
          <p:cNvSpPr/>
          <p:nvPr/>
        </p:nvSpPr>
        <p:spPr>
          <a:xfrm>
            <a:off x="4754880" y="1463040"/>
            <a:ext cx="4937760" cy="4709160"/>
          </a:xfrm>
          <a:prstGeom prst="rect">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pic>
        <p:nvPicPr>
          <p:cNvPr id="8" name="Image 1" descr="UML services and web layer class diagram">    </p:cNvPr>
          <p:cNvPicPr>
            <a:picLocks noChangeAspect="1"/>
          </p:cNvPicPr>
          <p:nvPr/>
        </p:nvPicPr>
        <p:blipFill>
          <a:blip r:embed="rId2"/>
          <a:stretch>
            <a:fillRect/>
          </a:stretch>
        </p:blipFill>
        <p:spPr>
          <a:xfrm>
            <a:off x="4846320" y="2194560"/>
            <a:ext cx="4754880" cy="2487168"/>
          </a:xfrm>
          <a:prstGeom prst="rect">
            <a:avLst/>
          </a:prstGeom>
        </p:spPr>
      </p:pic>
      <p:sp>
        <p:nvSpPr>
          <p:cNvPr id="9" name="Text 5"/>
          <p:cNvSpPr txBox="1"/>
          <p:nvPr/>
        </p:nvSpPr>
        <p:spPr>
          <a:xfrm>
            <a:off x="4892040" y="5715000"/>
            <a:ext cx="4663440" cy="274320"/>
          </a:xfrm>
          <a:prstGeom prst="rect">
            <a:avLst/>
          </a:prstGeom>
          <a:noFill/>
          <a:ln/>
        </p:spPr>
        <p:txBody>
          <a:bodyPr wrap="square" lIns="0" tIns="0" rIns="0" bIns="0" rtlCol="0" anchor="t"/>
          <a:lstStyle/>
          <a:p>
            <a:pPr algn="ctr" indent="0" marL="0">
              <a:buNone/>
            </a:pPr>
            <a:r>
              <a:rPr lang="en-US" sz="1300" i="1" dirty="0">
                <a:solidFill>
                  <a:srgbClr val="6B665A"/>
                </a:solidFill>
                <a:latin typeface="Calibri" pitchFamily="34" charset="0"/>
                <a:ea typeface="Calibri" pitchFamily="34" charset="-122"/>
                <a:cs typeface="Calibri" pitchFamily="34" charset="-120"/>
              </a:rPr>
              <a:t>Services, interfaces and the web layer</a:t>
            </a:r>
            <a:endParaRPr lang="en-US" sz="1300" dirty="0"/>
          </a:p>
        </p:txBody>
      </p:sp>
      <p:sp>
        <p:nvSpPr>
          <p:cNvPr id="10" name="Text 6"/>
          <p:cNvSpPr txBox="1"/>
          <p:nvPr/>
        </p:nvSpPr>
        <p:spPr>
          <a:xfrm>
            <a:off x="9921240" y="1463040"/>
            <a:ext cx="1737360" cy="274320"/>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Read it like this</a:t>
            </a:r>
            <a:endParaRPr lang="en-US" sz="1400" dirty="0"/>
          </a:p>
        </p:txBody>
      </p:sp>
      <p:sp>
        <p:nvSpPr>
          <p:cNvPr id="11" name="Text 7"/>
          <p:cNvSpPr txBox="1"/>
          <p:nvPr/>
        </p:nvSpPr>
        <p:spPr>
          <a:xfrm>
            <a:off x="9921240" y="1755648"/>
            <a:ext cx="1737360" cy="1234440"/>
          </a:xfrm>
          <a:prstGeom prst="rect">
            <a:avLst/>
          </a:prstGeom>
          <a:noFill/>
          <a:ln/>
        </p:spPr>
        <p:txBody>
          <a:bodyPr wrap="square" lIns="0" tIns="0" rIns="0" bIns="0" rtlCol="0" anchor="t"/>
          <a:lstStyle/>
          <a:p>
            <a:pPr indent="0" marL="0">
              <a:buNone/>
            </a:pPr>
            <a:r>
              <a:rPr lang="en-US" sz="1200" dirty="0">
                <a:solidFill>
                  <a:srgbClr val="2B2B2B"/>
                </a:solidFill>
                <a:latin typeface="Calibri" pitchFamily="34" charset="0"/>
                <a:ea typeface="Calibri" pitchFamily="34" charset="-122"/>
                <a:cs typeface="Calibri" pitchFamily="34" charset="-120"/>
              </a:rPr>
              <a:t>Dashed arrows with hollow heads: a class implements an interface. Solid hollow heads: a subclass.</a:t>
            </a:r>
            <a:endParaRPr lang="en-US" sz="1200" dirty="0"/>
          </a:p>
        </p:txBody>
      </p:sp>
      <p:sp>
        <p:nvSpPr>
          <p:cNvPr id="12" name="Text 8"/>
          <p:cNvSpPr txBox="1"/>
          <p:nvPr/>
        </p:nvSpPr>
        <p:spPr>
          <a:xfrm>
            <a:off x="9921240" y="3063240"/>
            <a:ext cx="1737360" cy="274320"/>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Look for</a:t>
            </a:r>
            <a:endParaRPr lang="en-US" sz="1400" dirty="0"/>
          </a:p>
        </p:txBody>
      </p:sp>
      <p:sp>
        <p:nvSpPr>
          <p:cNvPr id="13" name="Text 9"/>
          <p:cNvSpPr txBox="1"/>
          <p:nvPr/>
        </p:nvSpPr>
        <p:spPr>
          <a:xfrm>
            <a:off x="9921240" y="3355848"/>
            <a:ext cx="1737360" cy="1234440"/>
          </a:xfrm>
          <a:prstGeom prst="rect">
            <a:avLst/>
          </a:prstGeom>
          <a:noFill/>
          <a:ln/>
        </p:spPr>
        <p:txBody>
          <a:bodyPr wrap="square" lIns="0" tIns="0" rIns="0" bIns="0" rtlCol="0" anchor="t"/>
          <a:lstStyle/>
          <a:p>
            <a:pPr indent="0" marL="0">
              <a:buNone/>
            </a:pPr>
            <a:r>
              <a:rPr lang="en-US" sz="1200" dirty="0">
                <a:solidFill>
                  <a:srgbClr val="2B2B2B"/>
                </a:solidFill>
                <a:latin typeface="Calibri" pitchFamily="34" charset="0"/>
                <a:ea typeface="Calibri" pitchFamily="34" charset="-122"/>
                <a:cs typeface="Calibri" pitchFamily="34" charset="-120"/>
              </a:rPr>
              <a:t>User in italics: abstract. Its three children override the menu and dashboard.</a:t>
            </a:r>
            <a:endParaRPr lang="en-US" sz="1200" dirty="0"/>
          </a:p>
        </p:txBody>
      </p:sp>
      <p:sp>
        <p:nvSpPr>
          <p:cNvPr id="14" name="Text 10"/>
          <p:cNvSpPr txBox="1"/>
          <p:nvPr/>
        </p:nvSpPr>
        <p:spPr>
          <a:xfrm>
            <a:off x="9921240" y="4663440"/>
            <a:ext cx="1737360" cy="274320"/>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Also drawn</a:t>
            </a:r>
            <a:endParaRPr lang="en-US" sz="1400" dirty="0"/>
          </a:p>
        </p:txBody>
      </p:sp>
      <p:sp>
        <p:nvSpPr>
          <p:cNvPr id="15" name="Text 11"/>
          <p:cNvSpPr txBox="1"/>
          <p:nvPr/>
        </p:nvSpPr>
        <p:spPr>
          <a:xfrm>
            <a:off x="9921240" y="4956048"/>
            <a:ext cx="1737360" cy="1234440"/>
          </a:xfrm>
          <a:prstGeom prst="rect">
            <a:avLst/>
          </a:prstGeom>
          <a:noFill/>
          <a:ln/>
        </p:spPr>
        <p:txBody>
          <a:bodyPr wrap="square" lIns="0" tIns="0" rIns="0" bIns="0" rtlCol="0" anchor="t"/>
          <a:lstStyle/>
          <a:p>
            <a:pPr indent="0" marL="0">
              <a:buNone/>
            </a:pPr>
            <a:r>
              <a:rPr lang="en-US" sz="1200" dirty="0">
                <a:solidFill>
                  <a:srgbClr val="2B2B2B"/>
                </a:solidFill>
                <a:latin typeface="Calibri" pitchFamily="34" charset="0"/>
                <a:ea typeface="Calibri" pitchFamily="34" charset="-122"/>
                <a:cs typeface="Calibri" pitchFamily="34" charset="-120"/>
              </a:rPr>
              <a:t>Exception hierarchy, use case, sequence and activity diagrams.</a:t>
            </a:r>
            <a:endParaRPr lang="en-US" sz="1200" dirty="0"/>
          </a:p>
        </p:txBody>
      </p:sp>
      <p:sp>
        <p:nvSpPr>
          <p:cNvPr id="16" name="Text 12"/>
          <p:cNvSpPr txBox="1"/>
          <p:nvPr/>
        </p:nvSpPr>
        <p:spPr>
          <a:xfrm>
            <a:off x="548640" y="6400800"/>
            <a:ext cx="9875520" cy="274320"/>
          </a:xfrm>
          <a:prstGeom prst="rect">
            <a:avLst/>
          </a:prstGeom>
          <a:noFill/>
          <a:ln/>
        </p:spPr>
        <p:txBody>
          <a:bodyPr wrap="square" lIns="0" tIns="0" rIns="0" bIns="0" rtlCol="0" anchor="t"/>
          <a:lstStyle/>
          <a:p>
            <a:pPr indent="0" marL="0">
              <a:buNone/>
            </a:pPr>
            <a:r>
              <a:rPr lang="en-US" sz="1000" dirty="0">
                <a:solidFill>
                  <a:srgbClr val="6B665A"/>
                </a:solidFill>
                <a:latin typeface="Calibri" pitchFamily="34" charset="0"/>
                <a:ea typeface="Calibri" pitchFamily="34" charset="-122"/>
                <a:cs typeface="Calibri" pitchFamily="34" charset="-120"/>
              </a:rPr>
              <a:t>Source: report, Appendix C, Figs. 10 and 11 · full set of six diagrams in docs/img</a:t>
            </a:r>
            <a:endParaRPr lang="en-US" sz="1000" dirty="0"/>
          </a:p>
        </p:txBody>
      </p:sp>
      <p:sp>
        <p:nvSpPr>
          <p:cNvPr id="25" name="Slide Number Placeholder 0"/>
          <p:cNvSpPr>
            <a:spLocks noGrp="1"/>
          </p:cNvSpPr>
          <p:nvPr>
            <p:ph type="sldNum" sz="quarter" idx="4294967295"/>
          </p:nvPr>
        </p:nvSpPr>
        <p:spPr>
          <a:xfrm>
            <a:off x="10698480" y="6400800"/>
            <a:ext cx="94183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65A"/>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292608"/>
            <a:ext cx="10058400" cy="256032"/>
          </a:xfrm>
          <a:prstGeom prst="rect">
            <a:avLst/>
          </a:prstGeom>
          <a:noFill/>
          <a:ln/>
        </p:spPr>
        <p:txBody>
          <a:bodyPr wrap="square" lIns="0" tIns="0" rIns="0" bIns="0" rtlCol="0" anchor="t"/>
          <a:lstStyle/>
          <a:p>
            <a:pPr indent="0" marL="0">
              <a:buNone/>
            </a:pPr>
            <a:r>
              <a:rPr lang="en-US" sz="1200" b="1" spc="300" kern="0" dirty="0">
                <a:solidFill>
                  <a:schemeClr val="accent1"/>
                </a:solidFill>
                <a:latin typeface="Calibri" pitchFamily="34" charset="0"/>
                <a:ea typeface="Calibri" pitchFamily="34" charset="-122"/>
                <a:cs typeface="Calibri" pitchFamily="34" charset="-120"/>
              </a:rPr>
              <a:t>POLYMORPHISM AT WORK</a:t>
            </a:r>
            <a:endParaRPr lang="en-US" sz="1200" dirty="0"/>
          </a:p>
        </p:txBody>
      </p:sp>
      <p:sp>
        <p:nvSpPr>
          <p:cNvPr id="3" name="Text 0"/>
          <p:cNvSpPr/>
          <p:nvPr>
            <p:ph idx="100"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3400" b="1" dirty="0">
                <a:solidFill>
                  <a:schemeClr val="tx1"/>
                </a:solidFill>
                <a:latin typeface="Calibri" pitchFamily="34" charset="0"/>
                <a:ea typeface="Calibri" pitchFamily="34" charset="-122"/>
                <a:cs typeface="Calibri" pitchFamily="34" charset="-120"/>
              </a:rPr>
              <a:t>One User, three roles</a:t>
            </a:r>
            <a:endParaRPr lang="en-US" sz="3400" dirty="0"/>
          </a:p>
        </p:txBody>
      </p:sp>
      <p:sp>
        <p:nvSpPr>
          <p:cNvPr id="4" name="Text 2"/>
          <p:cNvSpPr txBox="1"/>
          <p:nvPr/>
        </p:nvSpPr>
        <p:spPr>
          <a:xfrm>
            <a:off x="548640" y="1463040"/>
            <a:ext cx="5394960" cy="32004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Who is using it?</a:t>
            </a:r>
            <a:endParaRPr lang="en-US" sz="1800" dirty="0"/>
          </a:p>
        </p:txBody>
      </p:sp>
      <p:sp>
        <p:nvSpPr>
          <p:cNvPr id="5" name="Text 3"/>
          <p:cNvSpPr txBox="1"/>
          <p:nvPr/>
        </p:nvSpPr>
        <p:spPr>
          <a:xfrm>
            <a:off x="548640" y="1810512"/>
            <a:ext cx="5394960" cy="274320"/>
          </a:xfrm>
          <a:prstGeom prst="rect">
            <a:avLst/>
          </a:prstGeom>
          <a:noFill/>
          <a:ln/>
        </p:spPr>
        <p:txBody>
          <a:bodyPr wrap="square" lIns="0" tIns="0" rIns="0" bIns="0" rtlCol="0" anchor="t"/>
          <a:lstStyle/>
          <a:p>
            <a:pPr indent="0" marL="0">
              <a:buNone/>
            </a:pPr>
            <a:r>
              <a:rPr lang="en-US" sz="1200" dirty="0">
                <a:solidFill>
                  <a:srgbClr val="6B665A"/>
                </a:solidFill>
                <a:latin typeface="Calibri" pitchFamily="34" charset="0"/>
                <a:ea typeface="Calibri" pitchFamily="34" charset="-122"/>
                <a:cs typeface="Calibri" pitchFamily="34" charset="-120"/>
              </a:rPr>
              <a:t>abstract User: each role supplies its own menu</a:t>
            </a:r>
            <a:endParaRPr lang="en-US" sz="1200" dirty="0"/>
          </a:p>
        </p:txBody>
      </p:sp>
      <p:sp>
        <p:nvSpPr>
          <p:cNvPr id="6" name="Shape 4"/>
          <p:cNvSpPr/>
          <p:nvPr/>
        </p:nvSpPr>
        <p:spPr>
          <a:xfrm>
            <a:off x="548640" y="2194560"/>
            <a:ext cx="5394960" cy="914400"/>
          </a:xfrm>
          <a:prstGeom prst="rect">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7" name="Text 5"/>
          <p:cNvSpPr txBox="1"/>
          <p:nvPr/>
        </p:nvSpPr>
        <p:spPr>
          <a:xfrm>
            <a:off x="731520" y="2322576"/>
            <a:ext cx="1737360" cy="274320"/>
          </a:xfrm>
          <a:prstGeom prst="rect">
            <a:avLst/>
          </a:prstGeom>
          <a:noFill/>
          <a:ln/>
        </p:spPr>
        <p:txBody>
          <a:bodyPr wrap="square" lIns="0" tIns="0" rIns="0" bIns="0" rtlCol="0" anchor="t"/>
          <a:lstStyle/>
          <a:p>
            <a:pPr indent="0" marL="0">
              <a:buNone/>
            </a:pPr>
            <a:r>
              <a:rPr lang="en-US" sz="1500" b="1" dirty="0">
                <a:solidFill>
                  <a:schemeClr val="accent1"/>
                </a:solidFill>
                <a:latin typeface="Calibri" pitchFamily="34" charset="0"/>
                <a:ea typeface="Calibri" pitchFamily="34" charset="-122"/>
                <a:cs typeface="Calibri" pitchFamily="34" charset="-120"/>
              </a:rPr>
              <a:t>STUDENT</a:t>
            </a:r>
            <a:endParaRPr lang="en-US" sz="1500" dirty="0"/>
          </a:p>
        </p:txBody>
      </p:sp>
      <p:sp>
        <p:nvSpPr>
          <p:cNvPr id="8" name="Text 6"/>
          <p:cNvSpPr txBox="1"/>
          <p:nvPr/>
        </p:nvSpPr>
        <p:spPr>
          <a:xfrm>
            <a:off x="731520" y="2651760"/>
            <a:ext cx="1737360" cy="274320"/>
          </a:xfrm>
          <a:prstGeom prst="rect">
            <a:avLst/>
          </a:prstGeom>
          <a:noFill/>
          <a:ln/>
        </p:spPr>
        <p:txBody>
          <a:bodyPr wrap="square" lIns="0" tIns="0" rIns="0" bIns="0" rtlCol="0" anchor="t"/>
          <a:lstStyle/>
          <a:p>
            <a:pPr indent="0" marL="0">
              <a:buNone/>
            </a:pPr>
            <a:r>
              <a:rPr lang="en-US" sz="1200" b="1" dirty="0">
                <a:solidFill>
                  <a:schemeClr val="tx1"/>
                </a:solidFill>
                <a:latin typeface="Calibri" pitchFamily="34" charset="0"/>
                <a:ea typeface="Calibri" pitchFamily="34" charset="-122"/>
                <a:cs typeface="Calibri" pitchFamily="34" charset="-120"/>
              </a:rPr>
              <a:t>Finds and applies</a:t>
            </a:r>
            <a:endParaRPr lang="en-US" sz="1200" dirty="0"/>
          </a:p>
        </p:txBody>
      </p:sp>
      <p:sp>
        <p:nvSpPr>
          <p:cNvPr id="9" name="Text 7"/>
          <p:cNvSpPr txBox="1"/>
          <p:nvPr/>
        </p:nvSpPr>
        <p:spPr>
          <a:xfrm>
            <a:off x="2606040" y="2322576"/>
            <a:ext cx="3200400" cy="685800"/>
          </a:xfrm>
          <a:prstGeom prst="rect">
            <a:avLst/>
          </a:prstGeom>
          <a:noFill/>
          <a:ln/>
        </p:spPr>
        <p:txBody>
          <a:bodyPr wrap="square" lIns="0" tIns="0" rIns="0" bIns="0" rtlCol="0" anchor="ctr"/>
          <a:lstStyle/>
          <a:p>
            <a:pPr indent="0" marL="0">
              <a:buNone/>
            </a:pPr>
            <a:r>
              <a:rPr lang="en-US" sz="1300" dirty="0">
                <a:solidFill>
                  <a:srgbClr val="2B2B2B"/>
                </a:solidFill>
                <a:latin typeface="Calibri" pitchFamily="34" charset="0"/>
                <a:ea typeface="Calibri" pitchFamily="34" charset="-122"/>
                <a:cs typeface="Calibri" pitchFamily="34" charset="-120"/>
              </a:rPr>
              <a:t>Dashboard · Browse Internships · My Applications</a:t>
            </a:r>
            <a:endParaRPr lang="en-US" sz="1300" dirty="0"/>
          </a:p>
        </p:txBody>
      </p:sp>
      <p:sp>
        <p:nvSpPr>
          <p:cNvPr id="10" name="Shape 8"/>
          <p:cNvSpPr/>
          <p:nvPr/>
        </p:nvSpPr>
        <p:spPr>
          <a:xfrm>
            <a:off x="548640" y="3218688"/>
            <a:ext cx="5394960" cy="914400"/>
          </a:xfrm>
          <a:prstGeom prst="rect">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11" name="Text 9"/>
          <p:cNvSpPr txBox="1"/>
          <p:nvPr/>
        </p:nvSpPr>
        <p:spPr>
          <a:xfrm>
            <a:off x="731520" y="3346704"/>
            <a:ext cx="1737360" cy="274320"/>
          </a:xfrm>
          <a:prstGeom prst="rect">
            <a:avLst/>
          </a:prstGeom>
          <a:noFill/>
          <a:ln/>
        </p:spPr>
        <p:txBody>
          <a:bodyPr wrap="square" lIns="0" tIns="0" rIns="0" bIns="0" rtlCol="0" anchor="t"/>
          <a:lstStyle/>
          <a:p>
            <a:pPr indent="0" marL="0">
              <a:buNone/>
            </a:pPr>
            <a:r>
              <a:rPr lang="en-US" sz="1500" b="1" dirty="0">
                <a:solidFill>
                  <a:schemeClr val="accent1"/>
                </a:solidFill>
                <a:latin typeface="Calibri" pitchFamily="34" charset="0"/>
                <a:ea typeface="Calibri" pitchFamily="34" charset="-122"/>
                <a:cs typeface="Calibri" pitchFamily="34" charset="-120"/>
              </a:rPr>
              <a:t>COMPANY</a:t>
            </a:r>
            <a:endParaRPr lang="en-US" sz="1500" dirty="0"/>
          </a:p>
        </p:txBody>
      </p:sp>
      <p:sp>
        <p:nvSpPr>
          <p:cNvPr id="12" name="Text 10"/>
          <p:cNvSpPr txBox="1"/>
          <p:nvPr/>
        </p:nvSpPr>
        <p:spPr>
          <a:xfrm>
            <a:off x="731520" y="3675888"/>
            <a:ext cx="1737360" cy="274320"/>
          </a:xfrm>
          <a:prstGeom prst="rect">
            <a:avLst/>
          </a:prstGeom>
          <a:noFill/>
          <a:ln/>
        </p:spPr>
        <p:txBody>
          <a:bodyPr wrap="square" lIns="0" tIns="0" rIns="0" bIns="0" rtlCol="0" anchor="t"/>
          <a:lstStyle/>
          <a:p>
            <a:pPr indent="0" marL="0">
              <a:buNone/>
            </a:pPr>
            <a:r>
              <a:rPr lang="en-US" sz="1200" b="1" dirty="0">
                <a:solidFill>
                  <a:schemeClr val="tx1"/>
                </a:solidFill>
                <a:latin typeface="Calibri" pitchFamily="34" charset="0"/>
                <a:ea typeface="Calibri" pitchFamily="34" charset="-122"/>
                <a:cs typeface="Calibri" pitchFamily="34" charset="-120"/>
              </a:rPr>
              <a:t>Posts and decides</a:t>
            </a:r>
            <a:endParaRPr lang="en-US" sz="1200" dirty="0"/>
          </a:p>
        </p:txBody>
      </p:sp>
      <p:sp>
        <p:nvSpPr>
          <p:cNvPr id="13" name="Text 11"/>
          <p:cNvSpPr txBox="1"/>
          <p:nvPr/>
        </p:nvSpPr>
        <p:spPr>
          <a:xfrm>
            <a:off x="2606040" y="3346704"/>
            <a:ext cx="3200400" cy="685800"/>
          </a:xfrm>
          <a:prstGeom prst="rect">
            <a:avLst/>
          </a:prstGeom>
          <a:noFill/>
          <a:ln/>
        </p:spPr>
        <p:txBody>
          <a:bodyPr wrap="square" lIns="0" tIns="0" rIns="0" bIns="0" rtlCol="0" anchor="ctr"/>
          <a:lstStyle/>
          <a:p>
            <a:pPr indent="0" marL="0">
              <a:buNone/>
            </a:pPr>
            <a:r>
              <a:rPr lang="en-US" sz="1300" dirty="0">
                <a:solidFill>
                  <a:srgbClr val="2B2B2B"/>
                </a:solidFill>
                <a:latin typeface="Calibri" pitchFamily="34" charset="0"/>
                <a:ea typeface="Calibri" pitchFamily="34" charset="-122"/>
                <a:cs typeface="Calibri" pitchFamily="34" charset="-120"/>
              </a:rPr>
              <a:t>Dashboard · My Internships · Post Internship</a:t>
            </a:r>
            <a:endParaRPr lang="en-US" sz="1300" dirty="0"/>
          </a:p>
        </p:txBody>
      </p:sp>
      <p:sp>
        <p:nvSpPr>
          <p:cNvPr id="14" name="Shape 12"/>
          <p:cNvSpPr/>
          <p:nvPr/>
        </p:nvSpPr>
        <p:spPr>
          <a:xfrm>
            <a:off x="548640" y="4242816"/>
            <a:ext cx="5394960" cy="914400"/>
          </a:xfrm>
          <a:prstGeom prst="rect">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15" name="Text 13"/>
          <p:cNvSpPr txBox="1"/>
          <p:nvPr/>
        </p:nvSpPr>
        <p:spPr>
          <a:xfrm>
            <a:off x="731520" y="4370832"/>
            <a:ext cx="1737360" cy="274320"/>
          </a:xfrm>
          <a:prstGeom prst="rect">
            <a:avLst/>
          </a:prstGeom>
          <a:noFill/>
          <a:ln/>
        </p:spPr>
        <p:txBody>
          <a:bodyPr wrap="square" lIns="0" tIns="0" rIns="0" bIns="0" rtlCol="0" anchor="t"/>
          <a:lstStyle/>
          <a:p>
            <a:pPr indent="0" marL="0">
              <a:buNone/>
            </a:pPr>
            <a:r>
              <a:rPr lang="en-US" sz="1500" b="1" dirty="0">
                <a:solidFill>
                  <a:schemeClr val="accent1"/>
                </a:solidFill>
                <a:latin typeface="Calibri" pitchFamily="34" charset="0"/>
                <a:ea typeface="Calibri" pitchFamily="34" charset="-122"/>
                <a:cs typeface="Calibri" pitchFamily="34" charset="-120"/>
              </a:rPr>
              <a:t>ADMIN</a:t>
            </a:r>
            <a:endParaRPr lang="en-US" sz="1500" dirty="0"/>
          </a:p>
        </p:txBody>
      </p:sp>
      <p:sp>
        <p:nvSpPr>
          <p:cNvPr id="16" name="Text 14"/>
          <p:cNvSpPr txBox="1"/>
          <p:nvPr/>
        </p:nvSpPr>
        <p:spPr>
          <a:xfrm>
            <a:off x="731520" y="4700016"/>
            <a:ext cx="1737360" cy="274320"/>
          </a:xfrm>
          <a:prstGeom prst="rect">
            <a:avLst/>
          </a:prstGeom>
          <a:noFill/>
          <a:ln/>
        </p:spPr>
        <p:txBody>
          <a:bodyPr wrap="square" lIns="0" tIns="0" rIns="0" bIns="0" rtlCol="0" anchor="t"/>
          <a:lstStyle/>
          <a:p>
            <a:pPr indent="0" marL="0">
              <a:buNone/>
            </a:pPr>
            <a:r>
              <a:rPr lang="en-US" sz="1200" b="1" dirty="0">
                <a:solidFill>
                  <a:schemeClr val="tx1"/>
                </a:solidFill>
                <a:latin typeface="Calibri" pitchFamily="34" charset="0"/>
                <a:ea typeface="Calibri" pitchFamily="34" charset="-122"/>
                <a:cs typeface="Calibri" pitchFamily="34" charset="-120"/>
              </a:rPr>
              <a:t>Sees everything</a:t>
            </a:r>
            <a:endParaRPr lang="en-US" sz="1200" dirty="0"/>
          </a:p>
        </p:txBody>
      </p:sp>
      <p:sp>
        <p:nvSpPr>
          <p:cNvPr id="17" name="Text 15"/>
          <p:cNvSpPr txBox="1"/>
          <p:nvPr/>
        </p:nvSpPr>
        <p:spPr>
          <a:xfrm>
            <a:off x="2606040" y="4370832"/>
            <a:ext cx="3200400" cy="685800"/>
          </a:xfrm>
          <a:prstGeom prst="rect">
            <a:avLst/>
          </a:prstGeom>
          <a:noFill/>
          <a:ln/>
        </p:spPr>
        <p:txBody>
          <a:bodyPr wrap="square" lIns="0" tIns="0" rIns="0" bIns="0" rtlCol="0" anchor="ctr"/>
          <a:lstStyle/>
          <a:p>
            <a:pPr indent="0" marL="0">
              <a:buNone/>
            </a:pPr>
            <a:r>
              <a:rPr lang="en-US" sz="1300" dirty="0">
                <a:solidFill>
                  <a:srgbClr val="2B2B2B"/>
                </a:solidFill>
                <a:latin typeface="Calibri" pitchFamily="34" charset="0"/>
                <a:ea typeface="Calibri" pitchFamily="34" charset="-122"/>
                <a:cs typeface="Calibri" pitchFamily="34" charset="-120"/>
              </a:rPr>
              <a:t>Dashboard · Manage Records</a:t>
            </a:r>
            <a:endParaRPr lang="en-US" sz="1300" dirty="0"/>
          </a:p>
        </p:txBody>
      </p:sp>
      <p:sp>
        <p:nvSpPr>
          <p:cNvPr id="18" name="Text 16"/>
          <p:cNvSpPr txBox="1"/>
          <p:nvPr/>
        </p:nvSpPr>
        <p:spPr>
          <a:xfrm>
            <a:off x="6245352" y="1463040"/>
            <a:ext cx="5394960" cy="32004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What does a service offer?</a:t>
            </a:r>
            <a:endParaRPr lang="en-US" sz="1800" dirty="0"/>
          </a:p>
        </p:txBody>
      </p:sp>
      <p:sp>
        <p:nvSpPr>
          <p:cNvPr id="19" name="Text 17"/>
          <p:cNvSpPr txBox="1"/>
          <p:nvPr/>
        </p:nvSpPr>
        <p:spPr>
          <a:xfrm>
            <a:off x="6245352" y="1810512"/>
            <a:ext cx="5394960" cy="274320"/>
          </a:xfrm>
          <a:prstGeom prst="rect">
            <a:avLst/>
          </a:prstGeom>
          <a:noFill/>
          <a:ln/>
        </p:spPr>
        <p:txBody>
          <a:bodyPr wrap="square" lIns="0" tIns="0" rIns="0" bIns="0" rtlCol="0" anchor="t"/>
          <a:lstStyle/>
          <a:p>
            <a:pPr indent="0" marL="0">
              <a:buNone/>
            </a:pPr>
            <a:r>
              <a:rPr lang="en-US" sz="1200" dirty="0">
                <a:solidFill>
                  <a:srgbClr val="6B665A"/>
                </a:solidFill>
                <a:latin typeface="Calibri" pitchFamily="34" charset="0"/>
                <a:ea typeface="Calibri" pitchFamily="34" charset="-122"/>
                <a:cs typeface="Calibri" pitchFamily="34" charset="-120"/>
              </a:rPr>
              <a:t>three small generic interfaces</a:t>
            </a:r>
            <a:endParaRPr lang="en-US" sz="1200" dirty="0"/>
          </a:p>
        </p:txBody>
      </p:sp>
      <p:sp>
        <p:nvSpPr>
          <p:cNvPr id="20" name="Shape 18"/>
          <p:cNvSpPr/>
          <p:nvPr/>
        </p:nvSpPr>
        <p:spPr>
          <a:xfrm>
            <a:off x="6245352" y="2194560"/>
            <a:ext cx="5394960" cy="914400"/>
          </a:xfrm>
          <a:prstGeom prst="rect">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21" name="Text 19"/>
          <p:cNvSpPr txBox="1"/>
          <p:nvPr/>
        </p:nvSpPr>
        <p:spPr>
          <a:xfrm>
            <a:off x="6428232" y="2322576"/>
            <a:ext cx="1737360" cy="274320"/>
          </a:xfrm>
          <a:prstGeom prst="rect">
            <a:avLst/>
          </a:prstGeom>
          <a:noFill/>
          <a:ln/>
        </p:spPr>
        <p:txBody>
          <a:bodyPr wrap="square" lIns="0" tIns="0" rIns="0" bIns="0" rtlCol="0" anchor="t"/>
          <a:lstStyle/>
          <a:p>
            <a:pPr indent="0" marL="0">
              <a:buNone/>
            </a:pPr>
            <a:r>
              <a:rPr lang="en-US" sz="1500" b="1" dirty="0">
                <a:solidFill>
                  <a:schemeClr val="accent1"/>
                </a:solidFill>
                <a:latin typeface="Calibri" pitchFamily="34" charset="0"/>
                <a:ea typeface="Calibri" pitchFamily="34" charset="-122"/>
                <a:cs typeface="Calibri" pitchFamily="34" charset="-120"/>
              </a:rPr>
              <a:t>Manageable&lt;T&gt;</a:t>
            </a:r>
            <a:endParaRPr lang="en-US" sz="1500" dirty="0"/>
          </a:p>
        </p:txBody>
      </p:sp>
      <p:sp>
        <p:nvSpPr>
          <p:cNvPr id="22" name="Text 20"/>
          <p:cNvSpPr txBox="1"/>
          <p:nvPr/>
        </p:nvSpPr>
        <p:spPr>
          <a:xfrm>
            <a:off x="6428232" y="2651760"/>
            <a:ext cx="1737360" cy="274320"/>
          </a:xfrm>
          <a:prstGeom prst="rect">
            <a:avLst/>
          </a:prstGeom>
          <a:noFill/>
          <a:ln/>
        </p:spPr>
        <p:txBody>
          <a:bodyPr wrap="square" lIns="0" tIns="0" rIns="0" bIns="0" rtlCol="0" anchor="t"/>
          <a:lstStyle/>
          <a:p>
            <a:pPr indent="0" marL="0">
              <a:buNone/>
            </a:pPr>
            <a:r>
              <a:rPr lang="en-US" sz="1200" b="1" dirty="0">
                <a:solidFill>
                  <a:schemeClr val="tx1"/>
                </a:solidFill>
                <a:latin typeface="Calibri" pitchFamily="34" charset="0"/>
                <a:ea typeface="Calibri" pitchFamily="34" charset="-122"/>
                <a:cs typeface="Calibri" pitchFamily="34" charset="-120"/>
              </a:rPr>
              <a:t>Add, find, list</a:t>
            </a:r>
            <a:endParaRPr lang="en-US" sz="1200" dirty="0"/>
          </a:p>
        </p:txBody>
      </p:sp>
      <p:sp>
        <p:nvSpPr>
          <p:cNvPr id="23" name="Text 21"/>
          <p:cNvSpPr txBox="1"/>
          <p:nvPr/>
        </p:nvSpPr>
        <p:spPr>
          <a:xfrm>
            <a:off x="8302752" y="2322576"/>
            <a:ext cx="3200400" cy="685800"/>
          </a:xfrm>
          <a:prstGeom prst="rect">
            <a:avLst/>
          </a:prstGeom>
          <a:noFill/>
          <a:ln/>
        </p:spPr>
        <p:txBody>
          <a:bodyPr wrap="square" lIns="0" tIns="0" rIns="0" bIns="0" rtlCol="0" anchor="ctr"/>
          <a:lstStyle/>
          <a:p>
            <a:pPr indent="0" marL="0">
              <a:buNone/>
            </a:pPr>
            <a:r>
              <a:rPr lang="en-US" sz="1300" dirty="0">
                <a:solidFill>
                  <a:srgbClr val="2B2B2B"/>
                </a:solidFill>
                <a:latin typeface="Calibri" pitchFamily="34" charset="0"/>
                <a:ea typeface="Calibri" pitchFamily="34" charset="-122"/>
                <a:cs typeface="Calibri" pitchFamily="34" charset="-120"/>
              </a:rPr>
              <a:t>add, remove, findById and getAll for users, companies and internships</a:t>
            </a:r>
            <a:endParaRPr lang="en-US" sz="1300" dirty="0"/>
          </a:p>
        </p:txBody>
      </p:sp>
      <p:sp>
        <p:nvSpPr>
          <p:cNvPr id="24" name="Shape 22"/>
          <p:cNvSpPr/>
          <p:nvPr/>
        </p:nvSpPr>
        <p:spPr>
          <a:xfrm>
            <a:off x="6245352" y="3218688"/>
            <a:ext cx="5394960" cy="914400"/>
          </a:xfrm>
          <a:prstGeom prst="rect">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25" name="Text 23"/>
          <p:cNvSpPr txBox="1"/>
          <p:nvPr/>
        </p:nvSpPr>
        <p:spPr>
          <a:xfrm>
            <a:off x="6428232" y="3346704"/>
            <a:ext cx="1737360" cy="274320"/>
          </a:xfrm>
          <a:prstGeom prst="rect">
            <a:avLst/>
          </a:prstGeom>
          <a:noFill/>
          <a:ln/>
        </p:spPr>
        <p:txBody>
          <a:bodyPr wrap="square" lIns="0" tIns="0" rIns="0" bIns="0" rtlCol="0" anchor="t"/>
          <a:lstStyle/>
          <a:p>
            <a:pPr indent="0" marL="0">
              <a:buNone/>
            </a:pPr>
            <a:r>
              <a:rPr lang="en-US" sz="1500" b="1" dirty="0">
                <a:solidFill>
                  <a:schemeClr val="accent1"/>
                </a:solidFill>
                <a:latin typeface="Calibri" pitchFamily="34" charset="0"/>
                <a:ea typeface="Calibri" pitchFamily="34" charset="-122"/>
                <a:cs typeface="Calibri" pitchFamily="34" charset="-120"/>
              </a:rPr>
              <a:t>Searchable&lt;T&gt;</a:t>
            </a:r>
            <a:endParaRPr lang="en-US" sz="1500" dirty="0"/>
          </a:p>
        </p:txBody>
      </p:sp>
      <p:sp>
        <p:nvSpPr>
          <p:cNvPr id="26" name="Text 24"/>
          <p:cNvSpPr txBox="1"/>
          <p:nvPr/>
        </p:nvSpPr>
        <p:spPr>
          <a:xfrm>
            <a:off x="6428232" y="3675888"/>
            <a:ext cx="1737360" cy="274320"/>
          </a:xfrm>
          <a:prstGeom prst="rect">
            <a:avLst/>
          </a:prstGeom>
          <a:noFill/>
          <a:ln/>
        </p:spPr>
        <p:txBody>
          <a:bodyPr wrap="square" lIns="0" tIns="0" rIns="0" bIns="0" rtlCol="0" anchor="t"/>
          <a:lstStyle/>
          <a:p>
            <a:pPr indent="0" marL="0">
              <a:buNone/>
            </a:pPr>
            <a:r>
              <a:rPr lang="en-US" sz="1200" b="1" dirty="0">
                <a:solidFill>
                  <a:schemeClr val="tx1"/>
                </a:solidFill>
                <a:latin typeface="Calibri" pitchFamily="34" charset="0"/>
                <a:ea typeface="Calibri" pitchFamily="34" charset="-122"/>
                <a:cs typeface="Calibri" pitchFamily="34" charset="-120"/>
              </a:rPr>
              <a:t>Keyword search</a:t>
            </a:r>
            <a:endParaRPr lang="en-US" sz="1200" dirty="0"/>
          </a:p>
        </p:txBody>
      </p:sp>
      <p:sp>
        <p:nvSpPr>
          <p:cNvPr id="27" name="Text 25"/>
          <p:cNvSpPr txBox="1"/>
          <p:nvPr/>
        </p:nvSpPr>
        <p:spPr>
          <a:xfrm>
            <a:off x="8302752" y="3346704"/>
            <a:ext cx="3200400" cy="685800"/>
          </a:xfrm>
          <a:prstGeom prst="rect">
            <a:avLst/>
          </a:prstGeom>
          <a:noFill/>
          <a:ln/>
        </p:spPr>
        <p:txBody>
          <a:bodyPr wrap="square" lIns="0" tIns="0" rIns="0" bIns="0" rtlCol="0" anchor="ctr"/>
          <a:lstStyle/>
          <a:p>
            <a:pPr indent="0" marL="0">
              <a:buNone/>
            </a:pPr>
            <a:r>
              <a:rPr lang="en-US" sz="1300" dirty="0">
                <a:solidFill>
                  <a:srgbClr val="2B2B2B"/>
                </a:solidFill>
                <a:latin typeface="Calibri" pitchFamily="34" charset="0"/>
                <a:ea typeface="Calibri" pitchFamily="34" charset="-122"/>
                <a:cs typeface="Calibri" pitchFamily="34" charset="-120"/>
              </a:rPr>
              <a:t>search(keyword): case-insensitive over open internships</a:t>
            </a:r>
            <a:endParaRPr lang="en-US" sz="1300" dirty="0"/>
          </a:p>
        </p:txBody>
      </p:sp>
      <p:sp>
        <p:nvSpPr>
          <p:cNvPr id="28" name="Shape 26"/>
          <p:cNvSpPr/>
          <p:nvPr/>
        </p:nvSpPr>
        <p:spPr>
          <a:xfrm>
            <a:off x="6245352" y="4242816"/>
            <a:ext cx="5394960" cy="914400"/>
          </a:xfrm>
          <a:prstGeom prst="rect">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29" name="Text 27"/>
          <p:cNvSpPr txBox="1"/>
          <p:nvPr/>
        </p:nvSpPr>
        <p:spPr>
          <a:xfrm>
            <a:off x="6428232" y="4370832"/>
            <a:ext cx="1737360" cy="274320"/>
          </a:xfrm>
          <a:prstGeom prst="rect">
            <a:avLst/>
          </a:prstGeom>
          <a:noFill/>
          <a:ln/>
        </p:spPr>
        <p:txBody>
          <a:bodyPr wrap="square" lIns="0" tIns="0" rIns="0" bIns="0" rtlCol="0" anchor="t"/>
          <a:lstStyle/>
          <a:p>
            <a:pPr indent="0" marL="0">
              <a:buNone/>
            </a:pPr>
            <a:r>
              <a:rPr lang="en-US" sz="1500" b="1" dirty="0">
                <a:solidFill>
                  <a:schemeClr val="accent1"/>
                </a:solidFill>
                <a:latin typeface="Calibri" pitchFamily="34" charset="0"/>
                <a:ea typeface="Calibri" pitchFamily="34" charset="-122"/>
                <a:cs typeface="Calibri" pitchFamily="34" charset="-120"/>
              </a:rPr>
              <a:t>Applicable</a:t>
            </a:r>
            <a:endParaRPr lang="en-US" sz="1500" dirty="0"/>
          </a:p>
        </p:txBody>
      </p:sp>
      <p:sp>
        <p:nvSpPr>
          <p:cNvPr id="30" name="Text 28"/>
          <p:cNvSpPr txBox="1"/>
          <p:nvPr/>
        </p:nvSpPr>
        <p:spPr>
          <a:xfrm>
            <a:off x="6428232" y="4700016"/>
            <a:ext cx="1737360" cy="274320"/>
          </a:xfrm>
          <a:prstGeom prst="rect">
            <a:avLst/>
          </a:prstGeom>
          <a:noFill/>
          <a:ln/>
        </p:spPr>
        <p:txBody>
          <a:bodyPr wrap="square" lIns="0" tIns="0" rIns="0" bIns="0" rtlCol="0" anchor="t"/>
          <a:lstStyle/>
          <a:p>
            <a:pPr indent="0" marL="0">
              <a:buNone/>
            </a:pPr>
            <a:r>
              <a:rPr lang="en-US" sz="1200" b="1" dirty="0">
                <a:solidFill>
                  <a:schemeClr val="tx1"/>
                </a:solidFill>
                <a:latin typeface="Calibri" pitchFamily="34" charset="0"/>
                <a:ea typeface="Calibri" pitchFamily="34" charset="-122"/>
                <a:cs typeface="Calibri" pitchFamily="34" charset="-120"/>
              </a:rPr>
              <a:t>Apply</a:t>
            </a:r>
            <a:endParaRPr lang="en-US" sz="1200" dirty="0"/>
          </a:p>
        </p:txBody>
      </p:sp>
      <p:sp>
        <p:nvSpPr>
          <p:cNvPr id="31" name="Text 29"/>
          <p:cNvSpPr txBox="1"/>
          <p:nvPr/>
        </p:nvSpPr>
        <p:spPr>
          <a:xfrm>
            <a:off x="8302752" y="4370832"/>
            <a:ext cx="3200400" cy="685800"/>
          </a:xfrm>
          <a:prstGeom prst="rect">
            <a:avLst/>
          </a:prstGeom>
          <a:noFill/>
          <a:ln/>
        </p:spPr>
        <p:txBody>
          <a:bodyPr wrap="square" lIns="0" tIns="0" rIns="0" bIns="0" rtlCol="0" anchor="ctr"/>
          <a:lstStyle/>
          <a:p>
            <a:pPr indent="0" marL="0">
              <a:buNone/>
            </a:pPr>
            <a:r>
              <a:rPr lang="en-US" sz="1300" dirty="0">
                <a:solidFill>
                  <a:srgbClr val="2B2B2B"/>
                </a:solidFill>
                <a:latin typeface="Calibri" pitchFamily="34" charset="0"/>
                <a:ea typeface="Calibri" pitchFamily="34" charset="-122"/>
                <a:cs typeface="Calibri" pitchFamily="34" charset="-120"/>
              </a:rPr>
              <a:t>apply(studentId, internshipId) with duplicate and closed checks</a:t>
            </a:r>
            <a:endParaRPr lang="en-US" sz="1300" dirty="0"/>
          </a:p>
        </p:txBody>
      </p:sp>
      <p:sp>
        <p:nvSpPr>
          <p:cNvPr id="32" name="Shape 30"/>
          <p:cNvSpPr/>
          <p:nvPr/>
        </p:nvSpPr>
        <p:spPr>
          <a:xfrm>
            <a:off x="548640" y="5349240"/>
            <a:ext cx="11091672" cy="868680"/>
          </a:xfrm>
          <a:prstGeom prst="rect">
            <a:avLst/>
          </a:prstGeom>
          <a:solidFill>
            <a:schemeClr val="tx2"/>
          </a:solidFill>
          <a:ln w="12700">
            <a:solidFill>
              <a:schemeClr val="tx2"/>
            </a:solidFill>
            <a:prstDash val="solid"/>
          </a:ln>
        </p:spPr>
      </p:sp>
      <p:sp>
        <p:nvSpPr>
          <p:cNvPr id="33" name="Text 31"/>
          <p:cNvSpPr txBox="1"/>
          <p:nvPr/>
        </p:nvSpPr>
        <p:spPr>
          <a:xfrm>
            <a:off x="777240" y="5440680"/>
            <a:ext cx="10607040" cy="685800"/>
          </a:xfrm>
          <a:prstGeom prst="rect">
            <a:avLst/>
          </a:prstGeom>
          <a:noFill/>
          <a:ln/>
        </p:spPr>
        <p:txBody>
          <a:bodyPr wrap="square" lIns="0" tIns="0" rIns="0" bIns="0" rtlCol="0" anchor="ctr"/>
          <a:lstStyle/>
          <a:p>
            <a:pPr indent="0" marL="0">
              <a:buNone/>
            </a:pPr>
            <a:r>
              <a:rPr lang="en-US" sz="1400" b="1" dirty="0">
                <a:solidFill>
                  <a:schemeClr val="accent2"/>
                </a:solidFill>
                <a:latin typeface="Calibri" pitchFamily="34" charset="0"/>
                <a:ea typeface="Calibri" pitchFamily="34" charset="-122"/>
                <a:cs typeface="Calibri" pitchFamily="34" charset="-120"/>
              </a:rPr>
              <a:t>Why it matters: </a:t>
            </a:r>
            <a:pPr indent="0" marL="0">
              <a:buNone/>
            </a:pPr>
            <a:r>
              <a:rPr lang="en-US" sz="1400" dirty="0">
                <a:solidFill>
                  <a:schemeClr val="bg1"/>
                </a:solidFill>
                <a:latin typeface="Calibri" pitchFamily="34" charset="0"/>
                <a:ea typeface="Calibri" pitchFamily="34" charset="-122"/>
                <a:cs typeface="Calibri" pitchFamily="34" charset="-120"/>
              </a:rPr>
              <a:t>the web layer calls getMenuLinks() on a User reference and draws whatever comes back, so it has no per-role menu code. Search is also overloaded: search(keyword) and search(keyword, location).</a:t>
            </a:r>
            <a:endParaRPr lang="en-US" sz="1400" dirty="0"/>
          </a:p>
        </p:txBody>
      </p:sp>
      <p:sp>
        <p:nvSpPr>
          <p:cNvPr id="34" name="Text 32"/>
          <p:cNvSpPr txBox="1"/>
          <p:nvPr/>
        </p:nvSpPr>
        <p:spPr>
          <a:xfrm>
            <a:off x="548640" y="6400800"/>
            <a:ext cx="9875520" cy="274320"/>
          </a:xfrm>
          <a:prstGeom prst="rect">
            <a:avLst/>
          </a:prstGeom>
          <a:noFill/>
          <a:ln/>
        </p:spPr>
        <p:txBody>
          <a:bodyPr wrap="square" lIns="0" tIns="0" rIns="0" bIns="0" rtlCol="0" anchor="t"/>
          <a:lstStyle/>
          <a:p>
            <a:pPr indent="0" marL="0">
              <a:buNone/>
            </a:pPr>
            <a:r>
              <a:rPr lang="en-US" sz="1000" dirty="0">
                <a:solidFill>
                  <a:srgbClr val="6B665A"/>
                </a:solidFill>
                <a:latin typeface="Calibri" pitchFamily="34" charset="0"/>
                <a:ea typeface="Calibri" pitchFamily="34" charset="-122"/>
                <a:cs typeface="Calibri" pitchFamily="34" charset="-120"/>
              </a:rPr>
              <a:t>Source: report, Sections IV-B and IV-C · the three roles are Student, CompanyRepresentative and Administrator</a:t>
            </a:r>
            <a:endParaRPr lang="en-US" sz="1000" dirty="0"/>
          </a:p>
        </p:txBody>
      </p:sp>
      <p:sp>
        <p:nvSpPr>
          <p:cNvPr id="25" name="Slide Number Placeholder 0"/>
          <p:cNvSpPr>
            <a:spLocks noGrp="1"/>
          </p:cNvSpPr>
          <p:nvPr>
            <p:ph type="sldNum" sz="quarter" idx="4294967295"/>
          </p:nvPr>
        </p:nvSpPr>
        <p:spPr>
          <a:xfrm>
            <a:off x="10698480" y="6400800"/>
            <a:ext cx="94183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65A"/>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292608"/>
            <a:ext cx="10058400" cy="256032"/>
          </a:xfrm>
          <a:prstGeom prst="rect">
            <a:avLst/>
          </a:prstGeom>
          <a:noFill/>
          <a:ln/>
        </p:spPr>
        <p:txBody>
          <a:bodyPr wrap="square" lIns="0" tIns="0" rIns="0" bIns="0" rtlCol="0" anchor="t"/>
          <a:lstStyle/>
          <a:p>
            <a:pPr indent="0" marL="0">
              <a:buNone/>
            </a:pPr>
            <a:r>
              <a:rPr lang="en-US" sz="1200" b="1" spc="300" kern="0" dirty="0">
                <a:solidFill>
                  <a:schemeClr val="accent2"/>
                </a:solidFill>
                <a:latin typeface="Calibri" pitchFamily="34" charset="0"/>
                <a:ea typeface="Calibri" pitchFamily="34" charset="-122"/>
                <a:cs typeface="Calibri" pitchFamily="34" charset="-120"/>
              </a:rPr>
              <a:t>LIVE DEMO · ABOUT 5 MINUTES</a:t>
            </a:r>
            <a:endParaRPr lang="en-US" sz="1200" dirty="0"/>
          </a:p>
        </p:txBody>
      </p:sp>
      <p:sp>
        <p:nvSpPr>
          <p:cNvPr id="3" name="Text 0"/>
          <p:cNvSpPr/>
          <p:nvPr>
            <p:ph idx="100"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3400" b="1" dirty="0">
                <a:solidFill>
                  <a:schemeClr val="bg1"/>
                </a:solidFill>
                <a:latin typeface="Calibri" pitchFamily="34" charset="0"/>
                <a:ea typeface="Calibri" pitchFamily="34" charset="-122"/>
                <a:cs typeface="Calibri" pitchFamily="34" charset="-120"/>
              </a:rPr>
              <a:t>From login to ACCEPTED</a:t>
            </a:r>
            <a:endParaRPr lang="en-US" sz="3400" dirty="0"/>
          </a:p>
        </p:txBody>
      </p:sp>
      <p:sp>
        <p:nvSpPr>
          <p:cNvPr id="4" name="Shape 2"/>
          <p:cNvSpPr/>
          <p:nvPr/>
        </p:nvSpPr>
        <p:spPr>
          <a:xfrm>
            <a:off x="548640" y="1463040"/>
            <a:ext cx="3544824" cy="2286000"/>
          </a:xfrm>
          <a:prstGeom prst="rect">
            <a:avLst/>
          </a:prstGeom>
          <a:solidFill>
            <a:schemeClr val="accent5"/>
          </a:solidFill>
          <a:ln w="12700">
            <a:solidFill>
              <a:schemeClr val="accent5"/>
            </a:solidFill>
            <a:prstDash val="solid"/>
          </a:ln>
        </p:spPr>
      </p:sp>
      <p:pic>
        <p:nvPicPr>
          <p:cNvPr id="5" name="Image 0" descr="Screenshot: Student: browse, filter, apply">    </p:cNvPr>
          <p:cNvPicPr>
            <a:picLocks noChangeAspect="1"/>
          </p:cNvPicPr>
          <p:nvPr/>
        </p:nvPicPr>
        <p:blipFill>
          <a:blip r:embed="rId1"/>
          <a:stretch>
            <a:fillRect/>
          </a:stretch>
        </p:blipFill>
        <p:spPr>
          <a:xfrm>
            <a:off x="685800" y="1572768"/>
            <a:ext cx="3270504" cy="1522420"/>
          </a:xfrm>
          <a:prstGeom prst="rect">
            <a:avLst/>
          </a:prstGeom>
        </p:spPr>
      </p:pic>
      <p:sp>
        <p:nvSpPr>
          <p:cNvPr id="6" name="Text 3"/>
          <p:cNvSpPr txBox="1"/>
          <p:nvPr/>
        </p:nvSpPr>
        <p:spPr>
          <a:xfrm>
            <a:off x="685800" y="3383280"/>
            <a:ext cx="3270504" cy="274320"/>
          </a:xfrm>
          <a:prstGeom prst="rect">
            <a:avLst/>
          </a:prstGeom>
          <a:noFill/>
          <a:ln/>
        </p:spPr>
        <p:txBody>
          <a:bodyPr wrap="square" lIns="0" tIns="0" rIns="0" bIns="0" rtlCol="0" anchor="t"/>
          <a:lstStyle/>
          <a:p>
            <a:pPr algn="ctr" indent="0" marL="0">
              <a:buNone/>
            </a:pPr>
            <a:r>
              <a:rPr lang="en-US" sz="1400" b="1" dirty="0">
                <a:solidFill>
                  <a:schemeClr val="accent2"/>
                </a:solidFill>
                <a:latin typeface="Calibri" pitchFamily="34" charset="0"/>
                <a:ea typeface="Calibri" pitchFamily="34" charset="-122"/>
                <a:cs typeface="Calibri" pitchFamily="34" charset="-120"/>
              </a:rPr>
              <a:t>Student: browse, filter, apply</a:t>
            </a:r>
            <a:endParaRPr lang="en-US" sz="1400" dirty="0"/>
          </a:p>
        </p:txBody>
      </p:sp>
      <p:sp>
        <p:nvSpPr>
          <p:cNvPr id="7" name="Shape 4"/>
          <p:cNvSpPr/>
          <p:nvPr/>
        </p:nvSpPr>
        <p:spPr>
          <a:xfrm>
            <a:off x="4322064" y="1463040"/>
            <a:ext cx="3544824" cy="2286000"/>
          </a:xfrm>
          <a:prstGeom prst="rect">
            <a:avLst/>
          </a:prstGeom>
          <a:solidFill>
            <a:schemeClr val="accent5"/>
          </a:solidFill>
          <a:ln w="12700">
            <a:solidFill>
              <a:schemeClr val="accent5"/>
            </a:solidFill>
            <a:prstDash val="solid"/>
          </a:ln>
        </p:spPr>
      </p:sp>
      <p:pic>
        <p:nvPicPr>
          <p:cNvPr id="8" name="Image 1" descr="Screenshot: Company: applicants and Close">    </p:cNvPr>
          <p:cNvPicPr>
            <a:picLocks noChangeAspect="1"/>
          </p:cNvPicPr>
          <p:nvPr/>
        </p:nvPicPr>
        <p:blipFill>
          <a:blip r:embed="rId2"/>
          <a:stretch>
            <a:fillRect/>
          </a:stretch>
        </p:blipFill>
        <p:spPr>
          <a:xfrm>
            <a:off x="4459224" y="1572768"/>
            <a:ext cx="3270504" cy="1522420"/>
          </a:xfrm>
          <a:prstGeom prst="rect">
            <a:avLst/>
          </a:prstGeom>
        </p:spPr>
      </p:pic>
      <p:sp>
        <p:nvSpPr>
          <p:cNvPr id="9" name="Text 5"/>
          <p:cNvSpPr txBox="1"/>
          <p:nvPr/>
        </p:nvSpPr>
        <p:spPr>
          <a:xfrm>
            <a:off x="4459224" y="3383280"/>
            <a:ext cx="3270504" cy="274320"/>
          </a:xfrm>
          <a:prstGeom prst="rect">
            <a:avLst/>
          </a:prstGeom>
          <a:noFill/>
          <a:ln/>
        </p:spPr>
        <p:txBody>
          <a:bodyPr wrap="square" lIns="0" tIns="0" rIns="0" bIns="0" rtlCol="0" anchor="t"/>
          <a:lstStyle/>
          <a:p>
            <a:pPr algn="ctr" indent="0" marL="0">
              <a:buNone/>
            </a:pPr>
            <a:r>
              <a:rPr lang="en-US" sz="1400" b="1" dirty="0">
                <a:solidFill>
                  <a:schemeClr val="accent2"/>
                </a:solidFill>
                <a:latin typeface="Calibri" pitchFamily="34" charset="0"/>
                <a:ea typeface="Calibri" pitchFamily="34" charset="-122"/>
                <a:cs typeface="Calibri" pitchFamily="34" charset="-120"/>
              </a:rPr>
              <a:t>Company: applicants and Close</a:t>
            </a:r>
            <a:endParaRPr lang="en-US" sz="1400" dirty="0"/>
          </a:p>
        </p:txBody>
      </p:sp>
      <p:sp>
        <p:nvSpPr>
          <p:cNvPr id="10" name="Shape 6"/>
          <p:cNvSpPr/>
          <p:nvPr/>
        </p:nvSpPr>
        <p:spPr>
          <a:xfrm>
            <a:off x="8095488" y="1463040"/>
            <a:ext cx="3544824" cy="2286000"/>
          </a:xfrm>
          <a:prstGeom prst="rect">
            <a:avLst/>
          </a:prstGeom>
          <a:solidFill>
            <a:schemeClr val="accent5"/>
          </a:solidFill>
          <a:ln w="12700">
            <a:solidFill>
              <a:schemeClr val="accent5"/>
            </a:solidFill>
            <a:prstDash val="solid"/>
          </a:ln>
        </p:spPr>
      </p:sp>
      <p:pic>
        <p:nvPicPr>
          <p:cNvPr id="11" name="Image 2" descr="Screenshot: Admin: users, internships, Remove">    </p:cNvPr>
          <p:cNvPicPr>
            <a:picLocks noChangeAspect="1"/>
          </p:cNvPicPr>
          <p:nvPr/>
        </p:nvPicPr>
        <p:blipFill>
          <a:blip r:embed="rId3"/>
          <a:stretch>
            <a:fillRect/>
          </a:stretch>
        </p:blipFill>
        <p:spPr>
          <a:xfrm>
            <a:off x="8232648" y="1572768"/>
            <a:ext cx="3270504" cy="1522420"/>
          </a:xfrm>
          <a:prstGeom prst="rect">
            <a:avLst/>
          </a:prstGeom>
        </p:spPr>
      </p:pic>
      <p:sp>
        <p:nvSpPr>
          <p:cNvPr id="12" name="Text 7"/>
          <p:cNvSpPr txBox="1"/>
          <p:nvPr/>
        </p:nvSpPr>
        <p:spPr>
          <a:xfrm>
            <a:off x="8232648" y="3383280"/>
            <a:ext cx="3270504" cy="274320"/>
          </a:xfrm>
          <a:prstGeom prst="rect">
            <a:avLst/>
          </a:prstGeom>
          <a:noFill/>
          <a:ln/>
        </p:spPr>
        <p:txBody>
          <a:bodyPr wrap="square" lIns="0" tIns="0" rIns="0" bIns="0" rtlCol="0" anchor="t"/>
          <a:lstStyle/>
          <a:p>
            <a:pPr algn="ctr" indent="0" marL="0">
              <a:buNone/>
            </a:pPr>
            <a:r>
              <a:rPr lang="en-US" sz="1400" b="1" dirty="0">
                <a:solidFill>
                  <a:schemeClr val="accent2"/>
                </a:solidFill>
                <a:latin typeface="Calibri" pitchFamily="34" charset="0"/>
                <a:ea typeface="Calibri" pitchFamily="34" charset="-122"/>
                <a:cs typeface="Calibri" pitchFamily="34" charset="-120"/>
              </a:rPr>
              <a:t>Admin: users, internships, Remove</a:t>
            </a:r>
            <a:endParaRPr lang="en-US" sz="1400" dirty="0"/>
          </a:p>
        </p:txBody>
      </p:sp>
      <p:sp>
        <p:nvSpPr>
          <p:cNvPr id="13" name="Shape 8"/>
          <p:cNvSpPr/>
          <p:nvPr/>
        </p:nvSpPr>
        <p:spPr>
          <a:xfrm>
            <a:off x="548640" y="3977640"/>
            <a:ext cx="3544824" cy="2194560"/>
          </a:xfrm>
          <a:prstGeom prst="rect">
            <a:avLst/>
          </a:prstGeom>
          <a:solidFill>
            <a:schemeClr val="accent5"/>
          </a:solidFill>
          <a:ln w="12700">
            <a:solidFill>
              <a:schemeClr val="accent5"/>
            </a:solidFill>
            <a:prstDash val="solid"/>
          </a:ln>
        </p:spPr>
      </p:sp>
      <p:sp>
        <p:nvSpPr>
          <p:cNvPr id="14" name="Text 9"/>
          <p:cNvSpPr txBox="1"/>
          <p:nvPr/>
        </p:nvSpPr>
        <p:spPr>
          <a:xfrm>
            <a:off x="731520" y="4114800"/>
            <a:ext cx="3179064" cy="274320"/>
          </a:xfrm>
          <a:prstGeom prst="rect">
            <a:avLst/>
          </a:prstGeom>
          <a:noFill/>
          <a:ln/>
        </p:spPr>
        <p:txBody>
          <a:bodyPr wrap="square" lIns="0" tIns="0" rIns="0" bIns="0" rtlCol="0" anchor="t"/>
          <a:lstStyle/>
          <a:p>
            <a:pPr indent="0" marL="0">
              <a:buNone/>
            </a:pPr>
            <a:r>
              <a:rPr lang="en-US" sz="1600" b="1" dirty="0">
                <a:solidFill>
                  <a:schemeClr val="accent2"/>
                </a:solidFill>
                <a:latin typeface="Calibri" pitchFamily="34" charset="0"/>
                <a:ea typeface="Calibri" pitchFamily="34" charset="-122"/>
                <a:cs typeface="Calibri" pitchFamily="34" charset="-120"/>
              </a:rPr>
              <a:t>1 · Apply</a:t>
            </a:r>
            <a:endParaRPr lang="en-US" sz="1600" dirty="0"/>
          </a:p>
        </p:txBody>
      </p:sp>
      <p:sp>
        <p:nvSpPr>
          <p:cNvPr id="15" name="Text 10"/>
          <p:cNvSpPr txBox="1"/>
          <p:nvPr/>
        </p:nvSpPr>
        <p:spPr>
          <a:xfrm>
            <a:off x="731520" y="4480560"/>
            <a:ext cx="3179064" cy="1600200"/>
          </a:xfrm>
          <a:prstGeom prst="rect">
            <a:avLst/>
          </a:prstGeom>
          <a:noFill/>
          <a:ln/>
        </p:spPr>
        <p:txBody>
          <a:bodyPr wrap="square" lIns="0" tIns="0" rIns="0" bIns="0" rtlCol="0" anchor="t"/>
          <a:lstStyle/>
          <a:p>
            <a:pPr indent="0" marL="0">
              <a:buNone/>
            </a:pPr>
            <a:r>
              <a:rPr lang="en-US" sz="1500" dirty="0">
                <a:solidFill>
                  <a:srgbClr val="E7EDF6"/>
                </a:solidFill>
                <a:latin typeface="Calibri" pitchFamily="34" charset="0"/>
                <a:ea typeface="Calibri" pitchFamily="34" charset="-122"/>
                <a:cs typeface="Calibri" pitchFamily="34" charset="-120"/>
              </a:rPr>
              <a:t>Log in as a student (aarav@demo.com / pass123), filter by keyword or location and press Apply. The status starts as PENDING.</a:t>
            </a:r>
            <a:endParaRPr lang="en-US" sz="1500" dirty="0"/>
          </a:p>
        </p:txBody>
      </p:sp>
      <p:sp>
        <p:nvSpPr>
          <p:cNvPr id="16" name="Shape 11"/>
          <p:cNvSpPr/>
          <p:nvPr/>
        </p:nvSpPr>
        <p:spPr>
          <a:xfrm>
            <a:off x="4322064" y="3977640"/>
            <a:ext cx="3544824" cy="2194560"/>
          </a:xfrm>
          <a:prstGeom prst="rect">
            <a:avLst/>
          </a:prstGeom>
          <a:solidFill>
            <a:schemeClr val="accent5"/>
          </a:solidFill>
          <a:ln w="12700">
            <a:solidFill>
              <a:schemeClr val="accent5"/>
            </a:solidFill>
            <a:prstDash val="solid"/>
          </a:ln>
        </p:spPr>
      </p:sp>
      <p:sp>
        <p:nvSpPr>
          <p:cNvPr id="17" name="Text 12"/>
          <p:cNvSpPr txBox="1"/>
          <p:nvPr/>
        </p:nvSpPr>
        <p:spPr>
          <a:xfrm>
            <a:off x="4504944" y="4114800"/>
            <a:ext cx="3179064" cy="274320"/>
          </a:xfrm>
          <a:prstGeom prst="rect">
            <a:avLst/>
          </a:prstGeom>
          <a:noFill/>
          <a:ln/>
        </p:spPr>
        <p:txBody>
          <a:bodyPr wrap="square" lIns="0" tIns="0" rIns="0" bIns="0" rtlCol="0" anchor="t"/>
          <a:lstStyle/>
          <a:p>
            <a:pPr indent="0" marL="0">
              <a:buNone/>
            </a:pPr>
            <a:r>
              <a:rPr lang="en-US" sz="1600" b="1" dirty="0">
                <a:solidFill>
                  <a:schemeClr val="accent2"/>
                </a:solidFill>
                <a:latin typeface="Calibri" pitchFamily="34" charset="0"/>
                <a:ea typeface="Calibri" pitchFamily="34" charset="-122"/>
                <a:cs typeface="Calibri" pitchFamily="34" charset="-120"/>
              </a:rPr>
              <a:t>2 · Review</a:t>
            </a:r>
            <a:endParaRPr lang="en-US" sz="1600" dirty="0"/>
          </a:p>
        </p:txBody>
      </p:sp>
      <p:sp>
        <p:nvSpPr>
          <p:cNvPr id="18" name="Text 13"/>
          <p:cNvSpPr txBox="1"/>
          <p:nvPr/>
        </p:nvSpPr>
        <p:spPr>
          <a:xfrm>
            <a:off x="4504944" y="4480560"/>
            <a:ext cx="3179064" cy="1600200"/>
          </a:xfrm>
          <a:prstGeom prst="rect">
            <a:avLst/>
          </a:prstGeom>
          <a:noFill/>
          <a:ln/>
        </p:spPr>
        <p:txBody>
          <a:bodyPr wrap="square" lIns="0" tIns="0" rIns="0" bIns="0" rtlCol="0" anchor="t"/>
          <a:lstStyle/>
          <a:p>
            <a:pPr indent="0" marL="0">
              <a:buNone/>
            </a:pPr>
            <a:r>
              <a:rPr lang="en-US" sz="1500" dirty="0">
                <a:solidFill>
                  <a:srgbClr val="E7EDF6"/>
                </a:solidFill>
                <a:latin typeface="Calibri" pitchFamily="34" charset="0"/>
                <a:ea typeface="Calibri" pitchFamily="34" charset="-122"/>
                <a:cs typeface="Calibri" pitchFamily="34" charset="-120"/>
              </a:rPr>
              <a:t>Log in as hr@technova.com / pass123. My Internships shows applicant counts; open Applicants and press Accept or Reject.</a:t>
            </a:r>
            <a:endParaRPr lang="en-US" sz="1500" dirty="0"/>
          </a:p>
        </p:txBody>
      </p:sp>
      <p:sp>
        <p:nvSpPr>
          <p:cNvPr id="19" name="Shape 14"/>
          <p:cNvSpPr/>
          <p:nvPr/>
        </p:nvSpPr>
        <p:spPr>
          <a:xfrm>
            <a:off x="8095488" y="3977640"/>
            <a:ext cx="3544824" cy="2194560"/>
          </a:xfrm>
          <a:prstGeom prst="rect">
            <a:avLst/>
          </a:prstGeom>
          <a:solidFill>
            <a:schemeClr val="accent5"/>
          </a:solidFill>
          <a:ln w="12700">
            <a:solidFill>
              <a:schemeClr val="accent5"/>
            </a:solidFill>
            <a:prstDash val="solid"/>
          </a:ln>
        </p:spPr>
      </p:sp>
      <p:sp>
        <p:nvSpPr>
          <p:cNvPr id="20" name="Text 15"/>
          <p:cNvSpPr txBox="1"/>
          <p:nvPr/>
        </p:nvSpPr>
        <p:spPr>
          <a:xfrm>
            <a:off x="8278368" y="4114800"/>
            <a:ext cx="3179064" cy="274320"/>
          </a:xfrm>
          <a:prstGeom prst="rect">
            <a:avLst/>
          </a:prstGeom>
          <a:noFill/>
          <a:ln/>
        </p:spPr>
        <p:txBody>
          <a:bodyPr wrap="square" lIns="0" tIns="0" rIns="0" bIns="0" rtlCol="0" anchor="t"/>
          <a:lstStyle/>
          <a:p>
            <a:pPr indent="0" marL="0">
              <a:buNone/>
            </a:pPr>
            <a:r>
              <a:rPr lang="en-US" sz="1600" b="1" dirty="0">
                <a:solidFill>
                  <a:schemeClr val="accent2"/>
                </a:solidFill>
                <a:latin typeface="Calibri" pitchFamily="34" charset="0"/>
                <a:ea typeface="Calibri" pitchFamily="34" charset="-122"/>
                <a:cs typeface="Calibri" pitchFamily="34" charset="-120"/>
              </a:rPr>
              <a:t>3 · Track</a:t>
            </a:r>
            <a:endParaRPr lang="en-US" sz="1600" dirty="0"/>
          </a:p>
        </p:txBody>
      </p:sp>
      <p:sp>
        <p:nvSpPr>
          <p:cNvPr id="21" name="Text 16"/>
          <p:cNvSpPr txBox="1"/>
          <p:nvPr/>
        </p:nvSpPr>
        <p:spPr>
          <a:xfrm>
            <a:off x="8278368" y="4480560"/>
            <a:ext cx="3179064" cy="1600200"/>
          </a:xfrm>
          <a:prstGeom prst="rect">
            <a:avLst/>
          </a:prstGeom>
          <a:noFill/>
          <a:ln/>
        </p:spPr>
        <p:txBody>
          <a:bodyPr wrap="square" lIns="0" tIns="0" rIns="0" bIns="0" rtlCol="0" anchor="t"/>
          <a:lstStyle/>
          <a:p>
            <a:pPr indent="0" marL="0">
              <a:buNone/>
            </a:pPr>
            <a:r>
              <a:rPr lang="en-US" sz="1500" dirty="0">
                <a:solidFill>
                  <a:srgbClr val="E7EDF6"/>
                </a:solidFill>
                <a:latin typeface="Calibri" pitchFamily="34" charset="0"/>
                <a:ea typeface="Calibri" pitchFamily="34" charset="-122"/>
                <a:cs typeface="Calibri" pitchFamily="34" charset="-120"/>
              </a:rPr>
              <a:t>The student’s My Applications page shows the new status. The admin (admin@demo.com / admin123) sees every record.</a:t>
            </a:r>
            <a:endParaRPr lang="en-US" sz="1500" dirty="0"/>
          </a:p>
        </p:txBody>
      </p:sp>
      <p:sp>
        <p:nvSpPr>
          <p:cNvPr id="22" name="Text 17"/>
          <p:cNvSpPr txBox="1"/>
          <p:nvPr/>
        </p:nvSpPr>
        <p:spPr>
          <a:xfrm>
            <a:off x="548640" y="6400800"/>
            <a:ext cx="9875520" cy="274320"/>
          </a:xfrm>
          <a:prstGeom prst="rect">
            <a:avLst/>
          </a:prstGeom>
          <a:noFill/>
          <a:ln/>
        </p:spPr>
        <p:txBody>
          <a:bodyPr wrap="square" lIns="0" tIns="0" rIns="0" bIns="0" rtlCol="0" anchor="t"/>
          <a:lstStyle/>
          <a:p>
            <a:pPr indent="0" marL="0">
              <a:buNone/>
            </a:pPr>
            <a:r>
              <a:rPr lang="en-US" sz="1000" dirty="0">
                <a:solidFill>
                  <a:srgbClr val="9FB0C8"/>
                </a:solidFill>
                <a:latin typeface="Calibri" pitchFamily="34" charset="0"/>
                <a:ea typeface="Calibri" pitchFamily="34" charset="-122"/>
                <a:cs typeface="Calibri" pitchFamily="34" charset="-120"/>
              </a:rPr>
              <a:t>Captured from the running application with the sample data · run.bat or sh run.sh, then open http://localhost:8080 · screenshots in docs/screenshots</a:t>
            </a:r>
            <a:endParaRPr lang="en-US" sz="1000" dirty="0"/>
          </a:p>
        </p:txBody>
      </p:sp>
      <p:sp>
        <p:nvSpPr>
          <p:cNvPr id="25" name="Slide Number Placeholder 0"/>
          <p:cNvSpPr>
            <a:spLocks noGrp="1"/>
          </p:cNvSpPr>
          <p:nvPr>
            <p:ph type="sldNum" sz="quarter" idx="4294967295"/>
          </p:nvPr>
        </p:nvSpPr>
        <p:spPr>
          <a:xfrm>
            <a:off x="10698480" y="6400800"/>
            <a:ext cx="94183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0C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292608"/>
            <a:ext cx="10058400" cy="256032"/>
          </a:xfrm>
          <a:prstGeom prst="rect">
            <a:avLst/>
          </a:prstGeom>
          <a:noFill/>
          <a:ln/>
        </p:spPr>
        <p:txBody>
          <a:bodyPr wrap="square" lIns="0" tIns="0" rIns="0" bIns="0" rtlCol="0" anchor="t"/>
          <a:lstStyle/>
          <a:p>
            <a:pPr indent="0" marL="0">
              <a:buNone/>
            </a:pPr>
            <a:r>
              <a:rPr lang="en-US" sz="1200" b="1" spc="300" kern="0" dirty="0">
                <a:solidFill>
                  <a:schemeClr val="accent2"/>
                </a:solidFill>
                <a:latin typeface="Calibri" pitchFamily="34" charset="0"/>
                <a:ea typeface="Calibri" pitchFamily="34" charset="-122"/>
                <a:cs typeface="Calibri" pitchFamily="34" charset="-120"/>
              </a:rPr>
              <a:t>THE PROOF</a:t>
            </a:r>
            <a:endParaRPr lang="en-US" sz="1200" dirty="0"/>
          </a:p>
        </p:txBody>
      </p:sp>
      <p:sp>
        <p:nvSpPr>
          <p:cNvPr id="3" name="Text 0"/>
          <p:cNvSpPr/>
          <p:nvPr>
            <p:ph idx="100"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3400" b="1" dirty="0">
                <a:solidFill>
                  <a:schemeClr val="bg1"/>
                </a:solidFill>
                <a:latin typeface="Calibri" pitchFamily="34" charset="0"/>
                <a:ea typeface="Calibri" pitchFamily="34" charset="-122"/>
                <a:cs typeface="Calibri" pitchFamily="34" charset="-120"/>
              </a:rPr>
              <a:t>How we know it works</a:t>
            </a:r>
            <a:endParaRPr lang="en-US" sz="3400" dirty="0"/>
          </a:p>
        </p:txBody>
      </p:sp>
      <p:sp>
        <p:nvSpPr>
          <p:cNvPr id="4" name="Shape 2"/>
          <p:cNvSpPr/>
          <p:nvPr/>
        </p:nvSpPr>
        <p:spPr>
          <a:xfrm>
            <a:off x="548640" y="1554480"/>
            <a:ext cx="5449824" cy="1920240"/>
          </a:xfrm>
          <a:prstGeom prst="rect">
            <a:avLst/>
          </a:prstGeom>
          <a:solidFill>
            <a:schemeClr val="accent5"/>
          </a:solidFill>
          <a:ln w="12700">
            <a:solidFill>
              <a:schemeClr val="accent5"/>
            </a:solidFill>
            <a:prstDash val="solid"/>
          </a:ln>
        </p:spPr>
      </p:sp>
      <p:sp>
        <p:nvSpPr>
          <p:cNvPr id="5" name="Text 3"/>
          <p:cNvSpPr txBox="1"/>
          <p:nvPr/>
        </p:nvSpPr>
        <p:spPr>
          <a:xfrm>
            <a:off x="822960" y="1691640"/>
            <a:ext cx="4846320" cy="274320"/>
          </a:xfrm>
          <a:prstGeom prst="rect">
            <a:avLst/>
          </a:prstGeom>
          <a:noFill/>
          <a:ln/>
        </p:spPr>
        <p:txBody>
          <a:bodyPr wrap="square" lIns="0" tIns="0" rIns="0" bIns="0" rtlCol="0" anchor="t"/>
          <a:lstStyle/>
          <a:p>
            <a:pPr indent="0" marL="0">
              <a:buNone/>
            </a:pPr>
            <a:r>
              <a:rPr lang="en-US" sz="1300" dirty="0">
                <a:solidFill>
                  <a:srgbClr val="9FB0C8"/>
                </a:solidFill>
                <a:latin typeface="Calibri" pitchFamily="34" charset="0"/>
                <a:ea typeface="Calibri" pitchFamily="34" charset="-122"/>
                <a:cs typeface="Calibri" pitchFamily="34" charset="-120"/>
              </a:rPr>
              <a:t>test cases</a:t>
            </a:r>
            <a:endParaRPr lang="en-US" sz="1300" dirty="0"/>
          </a:p>
        </p:txBody>
      </p:sp>
      <p:sp>
        <p:nvSpPr>
          <p:cNvPr id="6" name="Text 4"/>
          <p:cNvSpPr txBox="1"/>
          <p:nvPr/>
        </p:nvSpPr>
        <p:spPr>
          <a:xfrm>
            <a:off x="822960" y="1965960"/>
            <a:ext cx="4846320" cy="777240"/>
          </a:xfrm>
          <a:prstGeom prst="rect">
            <a:avLst/>
          </a:prstGeom>
          <a:noFill/>
          <a:ln/>
        </p:spPr>
        <p:txBody>
          <a:bodyPr wrap="square" lIns="0" tIns="0" rIns="0" bIns="0" rtlCol="0" anchor="t"/>
          <a:lstStyle/>
          <a:p>
            <a:pPr indent="0" marL="0">
              <a:buNone/>
            </a:pPr>
            <a:r>
              <a:rPr lang="en-US" sz="4400" b="1" dirty="0">
                <a:solidFill>
                  <a:schemeClr val="accent2"/>
                </a:solidFill>
                <a:latin typeface="Calibri" pitchFamily="34" charset="0"/>
                <a:ea typeface="Calibri" pitchFamily="34" charset="-122"/>
                <a:cs typeface="Calibri" pitchFamily="34" charset="-120"/>
              </a:rPr>
              <a:t>18 of 18</a:t>
            </a:r>
            <a:endParaRPr lang="en-US" sz="4400" dirty="0"/>
          </a:p>
        </p:txBody>
      </p:sp>
      <p:sp>
        <p:nvSpPr>
          <p:cNvPr id="7" name="Text 5"/>
          <p:cNvSpPr txBox="1"/>
          <p:nvPr/>
        </p:nvSpPr>
        <p:spPr>
          <a:xfrm>
            <a:off x="822960" y="2788920"/>
            <a:ext cx="4846320" cy="594360"/>
          </a:xfrm>
          <a:prstGeom prst="rect">
            <a:avLst/>
          </a:prstGeom>
          <a:noFill/>
          <a:ln/>
        </p:spPr>
        <p:txBody>
          <a:bodyPr wrap="square" lIns="0" tIns="0" rIns="0" bIns="0" rtlCol="0" anchor="t"/>
          <a:lstStyle/>
          <a:p>
            <a:pPr indent="0" marL="0">
              <a:buNone/>
            </a:pPr>
            <a:r>
              <a:rPr lang="en-US" sz="1500" dirty="0">
                <a:solidFill>
                  <a:srgbClr val="E7EDF6"/>
                </a:solidFill>
                <a:latin typeface="Calibri" pitchFamily="34" charset="0"/>
                <a:ea typeface="Calibri" pitchFamily="34" charset="-122"/>
                <a:cs typeface="Calibri" pitchFamily="34" charset="-120"/>
              </a:rPr>
              <a:t>documented test cases passed against a running instance</a:t>
            </a:r>
            <a:endParaRPr lang="en-US" sz="1500" dirty="0"/>
          </a:p>
        </p:txBody>
      </p:sp>
      <p:sp>
        <p:nvSpPr>
          <p:cNvPr id="8" name="Shape 6"/>
          <p:cNvSpPr/>
          <p:nvPr/>
        </p:nvSpPr>
        <p:spPr>
          <a:xfrm>
            <a:off x="6190488" y="1554480"/>
            <a:ext cx="5449824" cy="1920240"/>
          </a:xfrm>
          <a:prstGeom prst="rect">
            <a:avLst/>
          </a:prstGeom>
          <a:solidFill>
            <a:schemeClr val="accent5"/>
          </a:solidFill>
          <a:ln w="12700">
            <a:solidFill>
              <a:schemeClr val="accent5"/>
            </a:solidFill>
            <a:prstDash val="solid"/>
          </a:ln>
        </p:spPr>
      </p:sp>
      <p:sp>
        <p:nvSpPr>
          <p:cNvPr id="9" name="Text 7"/>
          <p:cNvSpPr txBox="1"/>
          <p:nvPr/>
        </p:nvSpPr>
        <p:spPr>
          <a:xfrm>
            <a:off x="6464808" y="1691640"/>
            <a:ext cx="4846320" cy="274320"/>
          </a:xfrm>
          <a:prstGeom prst="rect">
            <a:avLst/>
          </a:prstGeom>
          <a:noFill/>
          <a:ln/>
        </p:spPr>
        <p:txBody>
          <a:bodyPr wrap="square" lIns="0" tIns="0" rIns="0" bIns="0" rtlCol="0" anchor="t"/>
          <a:lstStyle/>
          <a:p>
            <a:pPr indent="0" marL="0">
              <a:buNone/>
            </a:pPr>
            <a:r>
              <a:rPr lang="en-US" sz="1300" dirty="0">
                <a:solidFill>
                  <a:srgbClr val="9FB0C8"/>
                </a:solidFill>
                <a:latin typeface="Calibri" pitchFamily="34" charset="0"/>
                <a:ea typeface="Calibri" pitchFamily="34" charset="-122"/>
                <a:cs typeface="Calibri" pitchFamily="34" charset="-120"/>
              </a:rPr>
              <a:t>page speed</a:t>
            </a:r>
            <a:endParaRPr lang="en-US" sz="1300" dirty="0"/>
          </a:p>
        </p:txBody>
      </p:sp>
      <p:sp>
        <p:nvSpPr>
          <p:cNvPr id="10" name="Text 8"/>
          <p:cNvSpPr txBox="1"/>
          <p:nvPr/>
        </p:nvSpPr>
        <p:spPr>
          <a:xfrm>
            <a:off x="6464808" y="1965960"/>
            <a:ext cx="4846320" cy="777240"/>
          </a:xfrm>
          <a:prstGeom prst="rect">
            <a:avLst/>
          </a:prstGeom>
          <a:noFill/>
          <a:ln/>
        </p:spPr>
        <p:txBody>
          <a:bodyPr wrap="square" lIns="0" tIns="0" rIns="0" bIns="0" rtlCol="0" anchor="t"/>
          <a:lstStyle/>
          <a:p>
            <a:pPr indent="0" marL="0">
              <a:buNone/>
            </a:pPr>
            <a:r>
              <a:rPr lang="en-US" sz="4400" b="1" dirty="0">
                <a:solidFill>
                  <a:schemeClr val="accent2"/>
                </a:solidFill>
                <a:latin typeface="Calibri" pitchFamily="34" charset="0"/>
                <a:ea typeface="Calibri" pitchFamily="34" charset="-122"/>
                <a:cs typeface="Calibri" pitchFamily="34" charset="-120"/>
              </a:rPr>
              <a:t>≈ 1 ms</a:t>
            </a:r>
            <a:endParaRPr lang="en-US" sz="4400" dirty="0"/>
          </a:p>
        </p:txBody>
      </p:sp>
      <p:sp>
        <p:nvSpPr>
          <p:cNvPr id="11" name="Text 9"/>
          <p:cNvSpPr txBox="1"/>
          <p:nvPr/>
        </p:nvSpPr>
        <p:spPr>
          <a:xfrm>
            <a:off x="6464808" y="2788920"/>
            <a:ext cx="4846320" cy="594360"/>
          </a:xfrm>
          <a:prstGeom prst="rect">
            <a:avLst/>
          </a:prstGeom>
          <a:noFill/>
          <a:ln/>
        </p:spPr>
        <p:txBody>
          <a:bodyPr wrap="square" lIns="0" tIns="0" rIns="0" bIns="0" rtlCol="0" anchor="t"/>
          <a:lstStyle/>
          <a:p>
            <a:pPr indent="0" marL="0">
              <a:buNone/>
            </a:pPr>
            <a:r>
              <a:rPr lang="en-US" sz="1500" dirty="0">
                <a:solidFill>
                  <a:srgbClr val="E7EDF6"/>
                </a:solidFill>
                <a:latin typeface="Calibri" pitchFamily="34" charset="0"/>
                <a:ea typeface="Calibri" pitchFamily="34" charset="-122"/>
                <a:cs typeface="Calibri" pitchFamily="34" charset="-120"/>
              </a:rPr>
              <a:t>median response on the sample data (0.67 to 1.07 ms)</a:t>
            </a:r>
            <a:endParaRPr lang="en-US" sz="1500" dirty="0"/>
          </a:p>
        </p:txBody>
      </p:sp>
      <p:sp>
        <p:nvSpPr>
          <p:cNvPr id="12" name="Shape 10"/>
          <p:cNvSpPr/>
          <p:nvPr/>
        </p:nvSpPr>
        <p:spPr>
          <a:xfrm>
            <a:off x="548640" y="3657600"/>
            <a:ext cx="5449824" cy="1920240"/>
          </a:xfrm>
          <a:prstGeom prst="rect">
            <a:avLst/>
          </a:prstGeom>
          <a:solidFill>
            <a:schemeClr val="accent5"/>
          </a:solidFill>
          <a:ln w="12700">
            <a:solidFill>
              <a:schemeClr val="accent5"/>
            </a:solidFill>
            <a:prstDash val="solid"/>
          </a:ln>
        </p:spPr>
      </p:sp>
      <p:sp>
        <p:nvSpPr>
          <p:cNvPr id="13" name="Text 11"/>
          <p:cNvSpPr txBox="1"/>
          <p:nvPr/>
        </p:nvSpPr>
        <p:spPr>
          <a:xfrm>
            <a:off x="822960" y="3794760"/>
            <a:ext cx="4846320" cy="274320"/>
          </a:xfrm>
          <a:prstGeom prst="rect">
            <a:avLst/>
          </a:prstGeom>
          <a:noFill/>
          <a:ln/>
        </p:spPr>
        <p:txBody>
          <a:bodyPr wrap="square" lIns="0" tIns="0" rIns="0" bIns="0" rtlCol="0" anchor="t"/>
          <a:lstStyle/>
          <a:p>
            <a:pPr indent="0" marL="0">
              <a:buNone/>
            </a:pPr>
            <a:r>
              <a:rPr lang="en-US" sz="1300" dirty="0">
                <a:solidFill>
                  <a:srgbClr val="9FB0C8"/>
                </a:solidFill>
                <a:latin typeface="Calibri" pitchFamily="34" charset="0"/>
                <a:ea typeface="Calibri" pitchFamily="34" charset="-122"/>
                <a:cs typeface="Calibri" pitchFamily="34" charset="-120"/>
              </a:rPr>
              <a:t>search at scale</a:t>
            </a:r>
            <a:endParaRPr lang="en-US" sz="1300" dirty="0"/>
          </a:p>
        </p:txBody>
      </p:sp>
      <p:sp>
        <p:nvSpPr>
          <p:cNvPr id="14" name="Text 12"/>
          <p:cNvSpPr txBox="1"/>
          <p:nvPr/>
        </p:nvSpPr>
        <p:spPr>
          <a:xfrm>
            <a:off x="822960" y="4069080"/>
            <a:ext cx="4846320" cy="777240"/>
          </a:xfrm>
          <a:prstGeom prst="rect">
            <a:avLst/>
          </a:prstGeom>
          <a:noFill/>
          <a:ln/>
        </p:spPr>
        <p:txBody>
          <a:bodyPr wrap="square" lIns="0" tIns="0" rIns="0" bIns="0" rtlCol="0" anchor="t"/>
          <a:lstStyle/>
          <a:p>
            <a:pPr indent="0" marL="0">
              <a:buNone/>
            </a:pPr>
            <a:r>
              <a:rPr lang="en-US" sz="4400" b="1" dirty="0">
                <a:solidFill>
                  <a:schemeClr val="accent2"/>
                </a:solidFill>
                <a:latin typeface="Calibri" pitchFamily="34" charset="0"/>
                <a:ea typeface="Calibri" pitchFamily="34" charset="-122"/>
                <a:cs typeface="Calibri" pitchFamily="34" charset="-120"/>
              </a:rPr>
              <a:t>1.2 ms</a:t>
            </a:r>
            <a:endParaRPr lang="en-US" sz="4400" dirty="0"/>
          </a:p>
        </p:txBody>
      </p:sp>
      <p:sp>
        <p:nvSpPr>
          <p:cNvPr id="15" name="Text 13"/>
          <p:cNvSpPr txBox="1"/>
          <p:nvPr/>
        </p:nvSpPr>
        <p:spPr>
          <a:xfrm>
            <a:off x="822960" y="4892040"/>
            <a:ext cx="4846320" cy="594360"/>
          </a:xfrm>
          <a:prstGeom prst="rect">
            <a:avLst/>
          </a:prstGeom>
          <a:noFill/>
          <a:ln/>
        </p:spPr>
        <p:txBody>
          <a:bodyPr wrap="square" lIns="0" tIns="0" rIns="0" bIns="0" rtlCol="0" anchor="t"/>
          <a:lstStyle/>
          <a:p>
            <a:pPr indent="0" marL="0">
              <a:buNone/>
            </a:pPr>
            <a:r>
              <a:rPr lang="en-US" sz="1500" dirty="0">
                <a:solidFill>
                  <a:srgbClr val="E7EDF6"/>
                </a:solidFill>
                <a:latin typeface="Calibri" pitchFamily="34" charset="0"/>
                <a:ea typeface="Calibri" pitchFamily="34" charset="-122"/>
                <a:cs typeface="Calibri" pitchFamily="34" charset="-120"/>
              </a:rPr>
              <a:t>median keyword search over 10,000 internships</a:t>
            </a:r>
            <a:endParaRPr lang="en-US" sz="1500" dirty="0"/>
          </a:p>
        </p:txBody>
      </p:sp>
      <p:sp>
        <p:nvSpPr>
          <p:cNvPr id="16" name="Shape 14"/>
          <p:cNvSpPr/>
          <p:nvPr/>
        </p:nvSpPr>
        <p:spPr>
          <a:xfrm>
            <a:off x="6190488" y="3657600"/>
            <a:ext cx="5449824" cy="1920240"/>
          </a:xfrm>
          <a:prstGeom prst="rect">
            <a:avLst/>
          </a:prstGeom>
          <a:solidFill>
            <a:schemeClr val="accent5"/>
          </a:solidFill>
          <a:ln w="12700">
            <a:solidFill>
              <a:schemeClr val="accent5"/>
            </a:solidFill>
            <a:prstDash val="solid"/>
          </a:ln>
        </p:spPr>
      </p:sp>
      <p:sp>
        <p:nvSpPr>
          <p:cNvPr id="17" name="Text 15"/>
          <p:cNvSpPr txBox="1"/>
          <p:nvPr/>
        </p:nvSpPr>
        <p:spPr>
          <a:xfrm>
            <a:off x="6464808" y="3794760"/>
            <a:ext cx="4846320" cy="274320"/>
          </a:xfrm>
          <a:prstGeom prst="rect">
            <a:avLst/>
          </a:prstGeom>
          <a:noFill/>
          <a:ln/>
        </p:spPr>
        <p:txBody>
          <a:bodyPr wrap="square" lIns="0" tIns="0" rIns="0" bIns="0" rtlCol="0" anchor="t"/>
          <a:lstStyle/>
          <a:p>
            <a:pPr indent="0" marL="0">
              <a:buNone/>
            </a:pPr>
            <a:r>
              <a:rPr lang="en-US" sz="1300" dirty="0">
                <a:solidFill>
                  <a:srgbClr val="9FB0C8"/>
                </a:solidFill>
                <a:latin typeface="Calibri" pitchFamily="34" charset="0"/>
                <a:ea typeface="Calibri" pitchFamily="34" charset="-122"/>
                <a:cs typeface="Calibri" pitchFamily="34" charset="-120"/>
              </a:rPr>
              <a:t>code size</a:t>
            </a:r>
            <a:endParaRPr lang="en-US" sz="1300" dirty="0"/>
          </a:p>
        </p:txBody>
      </p:sp>
      <p:sp>
        <p:nvSpPr>
          <p:cNvPr id="18" name="Text 16"/>
          <p:cNvSpPr txBox="1"/>
          <p:nvPr/>
        </p:nvSpPr>
        <p:spPr>
          <a:xfrm>
            <a:off x="6464808" y="4069080"/>
            <a:ext cx="4846320" cy="777240"/>
          </a:xfrm>
          <a:prstGeom prst="rect">
            <a:avLst/>
          </a:prstGeom>
          <a:noFill/>
          <a:ln/>
        </p:spPr>
        <p:txBody>
          <a:bodyPr wrap="square" lIns="0" tIns="0" rIns="0" bIns="0" rtlCol="0" anchor="t"/>
          <a:lstStyle/>
          <a:p>
            <a:pPr indent="0" marL="0">
              <a:buNone/>
            </a:pPr>
            <a:r>
              <a:rPr lang="en-US" sz="4400" b="1" dirty="0">
                <a:solidFill>
                  <a:schemeClr val="accent2"/>
                </a:solidFill>
                <a:latin typeface="Calibri" pitchFamily="34" charset="0"/>
                <a:ea typeface="Calibri" pitchFamily="34" charset="-122"/>
                <a:cs typeface="Calibri" pitchFamily="34" charset="-120"/>
              </a:rPr>
              <a:t>1,860</a:t>
            </a:r>
            <a:endParaRPr lang="en-US" sz="4400" dirty="0"/>
          </a:p>
        </p:txBody>
      </p:sp>
      <p:sp>
        <p:nvSpPr>
          <p:cNvPr id="19" name="Text 17"/>
          <p:cNvSpPr txBox="1"/>
          <p:nvPr/>
        </p:nvSpPr>
        <p:spPr>
          <a:xfrm>
            <a:off x="6464808" y="4892040"/>
            <a:ext cx="4846320" cy="594360"/>
          </a:xfrm>
          <a:prstGeom prst="rect">
            <a:avLst/>
          </a:prstGeom>
          <a:noFill/>
          <a:ln/>
        </p:spPr>
        <p:txBody>
          <a:bodyPr wrap="square" lIns="0" tIns="0" rIns="0" bIns="0" rtlCol="0" anchor="t"/>
          <a:lstStyle/>
          <a:p>
            <a:pPr indent="0" marL="0">
              <a:buNone/>
            </a:pPr>
            <a:r>
              <a:rPr lang="en-US" sz="1500" dirty="0">
                <a:solidFill>
                  <a:srgbClr val="E7EDF6"/>
                </a:solidFill>
                <a:latin typeface="Calibri" pitchFamily="34" charset="0"/>
                <a:ea typeface="Calibri" pitchFamily="34" charset="-122"/>
                <a:cs typeface="Calibri" pitchFamily="34" charset="-120"/>
              </a:rPr>
              <a:t>lines of Java in 30 files, with no external library</a:t>
            </a:r>
            <a:endParaRPr lang="en-US" sz="1500" dirty="0"/>
          </a:p>
        </p:txBody>
      </p:sp>
      <p:sp>
        <p:nvSpPr>
          <p:cNvPr id="20" name="Text 18"/>
          <p:cNvSpPr txBox="1"/>
          <p:nvPr/>
        </p:nvSpPr>
        <p:spPr>
          <a:xfrm>
            <a:off x="548640" y="5852160"/>
            <a:ext cx="11064240" cy="457200"/>
          </a:xfrm>
          <a:prstGeom prst="rect">
            <a:avLst/>
          </a:prstGeom>
          <a:noFill/>
          <a:ln/>
        </p:spPr>
        <p:txBody>
          <a:bodyPr wrap="square" lIns="0" tIns="0" rIns="0" bIns="0" rtlCol="0" anchor="t"/>
          <a:lstStyle/>
          <a:p>
            <a:pPr indent="0" marL="0">
              <a:buNone/>
            </a:pPr>
            <a:r>
              <a:rPr lang="en-US" sz="1400" dirty="0">
                <a:solidFill>
                  <a:srgbClr val="E7EDF6"/>
                </a:solidFill>
                <a:latin typeface="Calibri" pitchFamily="34" charset="0"/>
                <a:ea typeface="Calibri" pitchFamily="34" charset="-122"/>
                <a:cs typeface="Calibri" pitchFamily="34" charset="-120"/>
              </a:rPr>
              <a:t>Every case ran against a freshly started server, and one case after a restart. There is no JUnit suite yet; we list that as a limit.</a:t>
            </a:r>
            <a:endParaRPr lang="en-US" sz="1400" dirty="0"/>
          </a:p>
        </p:txBody>
      </p:sp>
      <p:sp>
        <p:nvSpPr>
          <p:cNvPr id="21" name="Text 19"/>
          <p:cNvSpPr txBox="1"/>
          <p:nvPr/>
        </p:nvSpPr>
        <p:spPr>
          <a:xfrm>
            <a:off x="548640" y="6400800"/>
            <a:ext cx="9875520" cy="274320"/>
          </a:xfrm>
          <a:prstGeom prst="rect">
            <a:avLst/>
          </a:prstGeom>
          <a:noFill/>
          <a:ln/>
        </p:spPr>
        <p:txBody>
          <a:bodyPr wrap="square" lIns="0" tIns="0" rIns="0" bIns="0" rtlCol="0" anchor="t"/>
          <a:lstStyle/>
          <a:p>
            <a:pPr indent="0" marL="0">
              <a:buNone/>
            </a:pPr>
            <a:r>
              <a:rPr lang="en-US" sz="1000" dirty="0">
                <a:solidFill>
                  <a:srgbClr val="9FB0C8"/>
                </a:solidFill>
                <a:latin typeface="Calibri" pitchFamily="34" charset="0"/>
                <a:ea typeface="Calibri" pitchFamily="34" charset="-122"/>
                <a:cs typeface="Calibri" pitchFamily="34" charset="-120"/>
              </a:rPr>
              <a:t>Source: report, Table IV (test cases), Tables V and VI (measurements) · one run on one machine, so the figures show the trend</a:t>
            </a:r>
            <a:endParaRPr lang="en-US" sz="1000" dirty="0"/>
          </a:p>
        </p:txBody>
      </p:sp>
      <p:sp>
        <p:nvSpPr>
          <p:cNvPr id="25" name="Slide Number Placeholder 0"/>
          <p:cNvSpPr>
            <a:spLocks noGrp="1"/>
          </p:cNvSpPr>
          <p:nvPr>
            <p:ph type="sldNum" sz="quarter" idx="4294967295"/>
          </p:nvPr>
        </p:nvSpPr>
        <p:spPr>
          <a:xfrm>
            <a:off x="10698480" y="6400800"/>
            <a:ext cx="94183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0C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292608"/>
            <a:ext cx="10058400" cy="256032"/>
          </a:xfrm>
          <a:prstGeom prst="rect">
            <a:avLst/>
          </a:prstGeom>
          <a:noFill/>
          <a:ln/>
        </p:spPr>
        <p:txBody>
          <a:bodyPr wrap="square" lIns="0" tIns="0" rIns="0" bIns="0" rtlCol="0" anchor="t"/>
          <a:lstStyle/>
          <a:p>
            <a:pPr indent="0" marL="0">
              <a:buNone/>
            </a:pPr>
            <a:r>
              <a:rPr lang="en-US" sz="1200" b="1" spc="300" kern="0" dirty="0">
                <a:solidFill>
                  <a:schemeClr val="accent1"/>
                </a:solidFill>
                <a:latin typeface="Calibri" pitchFamily="34" charset="0"/>
                <a:ea typeface="Calibri" pitchFamily="34" charset="-122"/>
                <a:cs typeface="Calibri" pitchFamily="34" charset="-120"/>
              </a:rPr>
              <a:t>WHAT WE LEARNED</a:t>
            </a:r>
            <a:endParaRPr lang="en-US" sz="1200" dirty="0"/>
          </a:p>
        </p:txBody>
      </p:sp>
      <p:sp>
        <p:nvSpPr>
          <p:cNvPr id="3" name="Text 0"/>
          <p:cNvSpPr/>
          <p:nvPr>
            <p:ph idx="100"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3400" b="1" dirty="0">
                <a:solidFill>
                  <a:schemeClr val="tx1"/>
                </a:solidFill>
                <a:latin typeface="Calibri" pitchFamily="34" charset="0"/>
                <a:ea typeface="Calibri" pitchFamily="34" charset="-122"/>
                <a:cs typeface="Calibri" pitchFamily="34" charset="-120"/>
              </a:rPr>
              <a:t>Search stays fast, saving is the bottleneck</a:t>
            </a:r>
            <a:endParaRPr lang="en-US" sz="3400" dirty="0"/>
          </a:p>
        </p:txBody>
      </p:sp>
      <p:sp>
        <p:nvSpPr>
          <p:cNvPr id="4" name="Shape 2"/>
          <p:cNvSpPr/>
          <p:nvPr/>
        </p:nvSpPr>
        <p:spPr>
          <a:xfrm>
            <a:off x="548640" y="1463040"/>
            <a:ext cx="7040880" cy="4754880"/>
          </a:xfrm>
          <a:prstGeom prst="rect">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graphicFrame>
        <p:nvGraphicFramePr>
          <p:cNvPr id="5" name="Chart 0" descr=""/>
          <p:cNvGraphicFramePr/>
          <p:nvPr/>
        </p:nvGraphicFramePr>
        <p:xfrm>
          <a:off x="685800" y="1600200"/>
          <a:ext cx="6766560" cy="379476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777240" y="5577840"/>
            <a:ext cx="6675120" cy="457200"/>
          </a:xfrm>
          <a:prstGeom prst="rect">
            <a:avLst/>
          </a:prstGeom>
          <a:noFill/>
          <a:ln/>
        </p:spPr>
        <p:txBody>
          <a:bodyPr wrap="square" lIns="0" tIns="0" rIns="0" bIns="0" rtlCol="0" anchor="t"/>
          <a:lstStyle/>
          <a:p>
            <a:pPr indent="0" marL="0">
              <a:buNone/>
            </a:pPr>
            <a:r>
              <a:rPr lang="en-US" sz="1200" dirty="0">
                <a:solidFill>
                  <a:srgbClr val="6B665A"/>
                </a:solidFill>
                <a:latin typeface="Calibri" pitchFamily="34" charset="0"/>
                <a:ea typeface="Calibri" pitchFamily="34" charset="-122"/>
                <a:cs typeface="Calibri" pitchFamily="34" charset="-120"/>
              </a:rPr>
              <a:t>One run per size on one machine (2 vCPU cloud container, JDK 21). Synthetic internships, fixed random seed.</a:t>
            </a:r>
            <a:endParaRPr lang="en-US" sz="1200" dirty="0"/>
          </a:p>
        </p:txBody>
      </p:sp>
      <p:sp>
        <p:nvSpPr>
          <p:cNvPr id="7" name="Shape 4"/>
          <p:cNvSpPr/>
          <p:nvPr/>
        </p:nvSpPr>
        <p:spPr>
          <a:xfrm>
            <a:off x="7818120" y="1463040"/>
            <a:ext cx="3822192" cy="1280160"/>
          </a:xfrm>
          <a:prstGeom prst="rect">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8" name="Text 5"/>
          <p:cNvSpPr txBox="1"/>
          <p:nvPr/>
        </p:nvSpPr>
        <p:spPr>
          <a:xfrm>
            <a:off x="8046720" y="1554480"/>
            <a:ext cx="3383280" cy="548640"/>
          </a:xfrm>
          <a:prstGeom prst="rect">
            <a:avLst/>
          </a:prstGeom>
          <a:noFill/>
          <a:ln/>
        </p:spPr>
        <p:txBody>
          <a:bodyPr wrap="square" lIns="0" tIns="0" rIns="0" bIns="0" rtlCol="0" anchor="t"/>
          <a:lstStyle/>
          <a:p>
            <a:pPr indent="0" marL="0">
              <a:buNone/>
            </a:pPr>
            <a:r>
              <a:rPr lang="en-US" sz="2800" b="1" dirty="0">
                <a:solidFill>
                  <a:schemeClr val="tx1"/>
                </a:solidFill>
                <a:latin typeface="Calibri" pitchFamily="34" charset="0"/>
                <a:ea typeface="Calibri" pitchFamily="34" charset="-122"/>
                <a:cs typeface="Calibri" pitchFamily="34" charset="-120"/>
              </a:rPr>
              <a:t>1.4 → 15.9 ms</a:t>
            </a:r>
            <a:endParaRPr lang="en-US" sz="2800" dirty="0"/>
          </a:p>
        </p:txBody>
      </p:sp>
      <p:sp>
        <p:nvSpPr>
          <p:cNvPr id="9" name="Text 6"/>
          <p:cNvSpPr txBox="1"/>
          <p:nvPr/>
        </p:nvSpPr>
        <p:spPr>
          <a:xfrm>
            <a:off x="8046720" y="2148840"/>
            <a:ext cx="3383280" cy="548640"/>
          </a:xfrm>
          <a:prstGeom prst="rect">
            <a:avLst/>
          </a:prstGeom>
          <a:noFill/>
          <a:ln/>
        </p:spPr>
        <p:txBody>
          <a:bodyPr wrap="square" lIns="0" tIns="0" rIns="0" bIns="0" rtlCol="0" anchor="t"/>
          <a:lstStyle/>
          <a:p>
            <a:pPr indent="0" marL="0">
              <a:buNone/>
            </a:pPr>
            <a:r>
              <a:rPr lang="en-US" sz="1300" dirty="0">
                <a:solidFill>
                  <a:srgbClr val="6B665A"/>
                </a:solidFill>
                <a:latin typeface="Calibri" pitchFamily="34" charset="0"/>
                <a:ea typeface="Calibri" pitchFamily="34" charset="-122"/>
                <a:cs typeface="Calibri" pitchFamily="34" charset="-120"/>
              </a:rPr>
              <a:t>to post one internship, from 100 to 10,000 stored</a:t>
            </a:r>
            <a:endParaRPr lang="en-US" sz="1300" dirty="0"/>
          </a:p>
        </p:txBody>
      </p:sp>
      <p:sp>
        <p:nvSpPr>
          <p:cNvPr id="10" name="Shape 7"/>
          <p:cNvSpPr/>
          <p:nvPr/>
        </p:nvSpPr>
        <p:spPr>
          <a:xfrm>
            <a:off x="7818120" y="2880360"/>
            <a:ext cx="3822192" cy="1280160"/>
          </a:xfrm>
          <a:prstGeom prst="rect">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11" name="Text 8"/>
          <p:cNvSpPr txBox="1"/>
          <p:nvPr/>
        </p:nvSpPr>
        <p:spPr>
          <a:xfrm>
            <a:off x="8046720" y="2971800"/>
            <a:ext cx="3383280" cy="548640"/>
          </a:xfrm>
          <a:prstGeom prst="rect">
            <a:avLst/>
          </a:prstGeom>
          <a:noFill/>
          <a:ln/>
        </p:spPr>
        <p:txBody>
          <a:bodyPr wrap="square" lIns="0" tIns="0" rIns="0" bIns="0" rtlCol="0" anchor="t"/>
          <a:lstStyle/>
          <a:p>
            <a:pPr indent="0" marL="0">
              <a:buNone/>
            </a:pPr>
            <a:r>
              <a:rPr lang="en-US" sz="2800" b="1" dirty="0">
                <a:solidFill>
                  <a:schemeClr val="tx1"/>
                </a:solidFill>
                <a:latin typeface="Calibri" pitchFamily="34" charset="0"/>
                <a:ea typeface="Calibri" pitchFamily="34" charset="-122"/>
                <a:cs typeface="Calibri" pitchFamily="34" charset="-120"/>
              </a:rPr>
              <a:t>0.06 → 1.18 ms</a:t>
            </a:r>
            <a:endParaRPr lang="en-US" sz="2800" dirty="0"/>
          </a:p>
        </p:txBody>
      </p:sp>
      <p:sp>
        <p:nvSpPr>
          <p:cNvPr id="12" name="Text 9"/>
          <p:cNvSpPr txBox="1"/>
          <p:nvPr/>
        </p:nvSpPr>
        <p:spPr>
          <a:xfrm>
            <a:off x="8046720" y="3566160"/>
            <a:ext cx="3383280" cy="548640"/>
          </a:xfrm>
          <a:prstGeom prst="rect">
            <a:avLst/>
          </a:prstGeom>
          <a:noFill/>
          <a:ln/>
        </p:spPr>
        <p:txBody>
          <a:bodyPr wrap="square" lIns="0" tIns="0" rIns="0" bIns="0" rtlCol="0" anchor="t"/>
          <a:lstStyle/>
          <a:p>
            <a:pPr indent="0" marL="0">
              <a:buNone/>
            </a:pPr>
            <a:r>
              <a:rPr lang="en-US" sz="1300" dirty="0">
                <a:solidFill>
                  <a:srgbClr val="6B665A"/>
                </a:solidFill>
                <a:latin typeface="Calibri" pitchFamily="34" charset="0"/>
                <a:ea typeface="Calibri" pitchFamily="34" charset="-122"/>
                <a:cs typeface="Calibri" pitchFamily="34" charset="-120"/>
              </a:rPr>
              <a:t>for a keyword search over the same range</a:t>
            </a:r>
            <a:endParaRPr lang="en-US" sz="1300" dirty="0"/>
          </a:p>
        </p:txBody>
      </p:sp>
      <p:sp>
        <p:nvSpPr>
          <p:cNvPr id="13" name="Shape 10"/>
          <p:cNvSpPr/>
          <p:nvPr/>
        </p:nvSpPr>
        <p:spPr>
          <a:xfrm>
            <a:off x="7818120" y="4297680"/>
            <a:ext cx="3822192" cy="1920240"/>
          </a:xfrm>
          <a:prstGeom prst="rect">
            <a:avLst/>
          </a:prstGeom>
          <a:solidFill>
            <a:schemeClr val="tx2"/>
          </a:solidFill>
          <a:ln w="12700">
            <a:solidFill>
              <a:schemeClr val="tx2"/>
            </a:solidFill>
            <a:prstDash val="solid"/>
          </a:ln>
        </p:spPr>
      </p:sp>
      <p:sp>
        <p:nvSpPr>
          <p:cNvPr id="14" name="Text 11"/>
          <p:cNvSpPr txBox="1"/>
          <p:nvPr/>
        </p:nvSpPr>
        <p:spPr>
          <a:xfrm>
            <a:off x="8046720" y="4407408"/>
            <a:ext cx="3383280" cy="274320"/>
          </a:xfrm>
          <a:prstGeom prst="rect">
            <a:avLst/>
          </a:prstGeom>
          <a:noFill/>
          <a:ln/>
        </p:spPr>
        <p:txBody>
          <a:bodyPr wrap="square" lIns="0" tIns="0" rIns="0" bIns="0" rtlCol="0" anchor="t"/>
          <a:lstStyle/>
          <a:p>
            <a:pPr indent="0" marL="0">
              <a:buNone/>
            </a:pPr>
            <a:r>
              <a:rPr lang="en-US" sz="1500" b="1" dirty="0">
                <a:solidFill>
                  <a:schemeClr val="accent2"/>
                </a:solidFill>
                <a:latin typeface="Calibri" pitchFamily="34" charset="0"/>
                <a:ea typeface="Calibri" pitchFamily="34" charset="-122"/>
                <a:cs typeface="Calibri" pitchFamily="34" charset="-120"/>
              </a:rPr>
              <a:t>The trade-off</a:t>
            </a:r>
            <a:endParaRPr lang="en-US" sz="1500" dirty="0"/>
          </a:p>
        </p:txBody>
      </p:sp>
      <p:sp>
        <p:nvSpPr>
          <p:cNvPr id="15" name="Text 12"/>
          <p:cNvSpPr txBox="1"/>
          <p:nvPr/>
        </p:nvSpPr>
        <p:spPr>
          <a:xfrm>
            <a:off x="8046720" y="4727448"/>
            <a:ext cx="3383280" cy="141732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Everything lives in memory, so reads are cheap. Every save rewrites the whole data file, so writes grow with the data. A database, or saving only the changed record, would fix it.</a:t>
            </a:r>
            <a:endParaRPr lang="en-US" sz="1300" dirty="0"/>
          </a:p>
        </p:txBody>
      </p:sp>
      <p:sp>
        <p:nvSpPr>
          <p:cNvPr id="16" name="Text 13"/>
          <p:cNvSpPr txBox="1"/>
          <p:nvPr/>
        </p:nvSpPr>
        <p:spPr>
          <a:xfrm>
            <a:off x="548640" y="6400800"/>
            <a:ext cx="9875520" cy="274320"/>
          </a:xfrm>
          <a:prstGeom prst="rect">
            <a:avLst/>
          </a:prstGeom>
          <a:noFill/>
          <a:ln/>
        </p:spPr>
        <p:txBody>
          <a:bodyPr wrap="square" lIns="0" tIns="0" rIns="0" bIns="0" rtlCol="0" anchor="t"/>
          <a:lstStyle/>
          <a:p>
            <a:pPr indent="0" marL="0">
              <a:buNone/>
            </a:pPr>
            <a:r>
              <a:rPr lang="en-US" sz="1000" dirty="0">
                <a:solidFill>
                  <a:srgbClr val="6B665A"/>
                </a:solidFill>
                <a:latin typeface="Calibri" pitchFamily="34" charset="0"/>
                <a:ea typeface="Calibri" pitchFamily="34" charset="-122"/>
                <a:cs typeface="Calibri" pitchFamily="34" charset="-120"/>
              </a:rPr>
              <a:t>Source: report, Section VIII-C, Table VI and Fig. 9</a:t>
            </a:r>
            <a:endParaRPr lang="en-US" sz="1000" dirty="0"/>
          </a:p>
        </p:txBody>
      </p:sp>
      <p:sp>
        <p:nvSpPr>
          <p:cNvPr id="25" name="Slide Number Placeholder 0"/>
          <p:cNvSpPr>
            <a:spLocks noGrp="1"/>
          </p:cNvSpPr>
          <p:nvPr>
            <p:ph type="sldNum" sz="quarter" idx="4294967295"/>
          </p:nvPr>
        </p:nvSpPr>
        <p:spPr>
          <a:xfrm>
            <a:off x="10698480" y="6400800"/>
            <a:ext cx="94183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65A"/>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292608"/>
            <a:ext cx="10058400" cy="256032"/>
          </a:xfrm>
          <a:prstGeom prst="rect">
            <a:avLst/>
          </a:prstGeom>
          <a:noFill/>
          <a:ln/>
        </p:spPr>
        <p:txBody>
          <a:bodyPr wrap="square" lIns="0" tIns="0" rIns="0" bIns="0" rtlCol="0" anchor="t"/>
          <a:lstStyle/>
          <a:p>
            <a:pPr indent="0" marL="0">
              <a:buNone/>
            </a:pPr>
            <a:r>
              <a:rPr lang="en-US" sz="1200" b="1" spc="300" kern="0" dirty="0">
                <a:solidFill>
                  <a:schemeClr val="accent1"/>
                </a:solidFill>
                <a:latin typeface="Calibri" pitchFamily="34" charset="0"/>
                <a:ea typeface="Calibri" pitchFamily="34" charset="-122"/>
                <a:cs typeface="Calibri" pitchFamily="34" charset="-120"/>
              </a:rPr>
              <a:t>CONCLUSIONS</a:t>
            </a:r>
            <a:endParaRPr lang="en-US" sz="1200" dirty="0"/>
          </a:p>
        </p:txBody>
      </p:sp>
      <p:sp>
        <p:nvSpPr>
          <p:cNvPr id="3" name="Text 1"/>
          <p:cNvSpPr txBox="1"/>
          <p:nvPr/>
        </p:nvSpPr>
        <p:spPr>
          <a:xfrm>
            <a:off x="548640" y="566928"/>
            <a:ext cx="11064240" cy="685800"/>
          </a:xfrm>
          <a:prstGeom prst="rect">
            <a:avLst/>
          </a:prstGeom>
          <a:noFill/>
          <a:ln/>
        </p:spPr>
        <p:txBody>
          <a:bodyPr wrap="square" lIns="0" tIns="0" rIns="0" bIns="0" rtlCol="0" anchor="t"/>
          <a:lstStyle/>
          <a:p>
            <a:pPr indent="0" marL="0">
              <a:buNone/>
            </a:pPr>
            <a:r>
              <a:rPr lang="en-US" sz="3400" b="1" dirty="0">
                <a:solidFill>
                  <a:schemeClr val="tx1"/>
                </a:solidFill>
                <a:latin typeface="Calibri" pitchFamily="34" charset="0"/>
                <a:ea typeface="Calibri" pitchFamily="34" charset="-122"/>
                <a:cs typeface="Calibri" pitchFamily="34" charset="-120"/>
              </a:rPr>
              <a:t>A clean design that works, with honest limits</a:t>
            </a:r>
            <a:endParaRPr lang="en-US" sz="3400" dirty="0"/>
          </a:p>
        </p:txBody>
      </p:sp>
      <p:sp>
        <p:nvSpPr>
          <p:cNvPr id="4" name="Shape 2"/>
          <p:cNvSpPr/>
          <p:nvPr/>
        </p:nvSpPr>
        <p:spPr>
          <a:xfrm>
            <a:off x="548640" y="1508760"/>
            <a:ext cx="3575304" cy="2926080"/>
          </a:xfrm>
          <a:prstGeom prst="rect">
            <a:avLst/>
          </a:prstGeom>
          <a:solidFill>
            <a:schemeClr val="accent6"/>
          </a:solidFill>
          <a:ln w="12700">
            <a:solidFill>
              <a:schemeClr val="accent6"/>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777240" y="1645920"/>
            <a:ext cx="3118104" cy="32004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What we found</a:t>
            </a:r>
            <a:endParaRPr lang="en-US" sz="1800" dirty="0"/>
          </a:p>
        </p:txBody>
      </p:sp>
      <p:sp>
        <p:nvSpPr>
          <p:cNvPr id="6" name="Text 4"/>
          <p:cNvSpPr txBox="1"/>
          <p:nvPr/>
        </p:nvSpPr>
        <p:spPr>
          <a:xfrm>
            <a:off x="777240" y="2103120"/>
            <a:ext cx="3118104" cy="25603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2B2B2B"/>
                </a:solidFill>
                <a:latin typeface="Calibri" pitchFamily="34" charset="0"/>
                <a:ea typeface="Calibri" pitchFamily="34" charset="-122"/>
                <a:cs typeface="Calibri" pitchFamily="34" charset="-120"/>
              </a:rPr>
              <a:t>Three roles share one abstract User and the design covers all eleven OOP concepts.</a:t>
            </a:r>
            <a:endParaRPr lang="en-US" sz="1400" dirty="0"/>
          </a:p>
          <a:p>
            <a:pPr marL="342900" indent="-342900">
              <a:spcAft>
                <a:spcPts val="600"/>
              </a:spcAft>
              <a:buSzPct val="100000"/>
              <a:buChar char="•"/>
            </a:pPr>
            <a:r>
              <a:rPr lang="en-US" sz="1400" dirty="0">
                <a:solidFill>
                  <a:srgbClr val="2B2B2B"/>
                </a:solidFill>
                <a:latin typeface="Calibri" pitchFamily="34" charset="0"/>
                <a:ea typeface="Calibri" pitchFamily="34" charset="-122"/>
                <a:cs typeface="Calibri" pitchFamily="34" charset="-120"/>
              </a:rPr>
              <a:t>All 18 documented test cases pass; pages answer in about 1 ms.</a:t>
            </a:r>
            <a:endParaRPr lang="en-US" sz="1400" dirty="0"/>
          </a:p>
          <a:p>
            <a:pPr marL="342900" indent="-342900">
              <a:spcAft>
                <a:spcPts val="600"/>
              </a:spcAft>
              <a:buSzPct val="100000"/>
              <a:buChar char="•"/>
            </a:pPr>
            <a:r>
              <a:rPr lang="en-US" sz="1400" dirty="0">
                <a:solidFill>
                  <a:srgbClr val="2B2B2B"/>
                </a:solidFill>
                <a:latin typeface="Calibri" pitchFamily="34" charset="0"/>
                <a:ea typeface="Calibri" pitchFamily="34" charset="-122"/>
                <a:cs typeface="Calibri" pitchFamily="34" charset="-120"/>
              </a:rPr>
              <a:t>Keyword search over 10,000 internships takes about 1.2 ms.</a:t>
            </a:r>
            <a:endParaRPr lang="en-US" sz="1400" dirty="0"/>
          </a:p>
        </p:txBody>
      </p:sp>
      <p:sp>
        <p:nvSpPr>
          <p:cNvPr id="7" name="Shape 5"/>
          <p:cNvSpPr/>
          <p:nvPr/>
        </p:nvSpPr>
        <p:spPr>
          <a:xfrm>
            <a:off x="4306824" y="1508760"/>
            <a:ext cx="3575304" cy="2926080"/>
          </a:xfrm>
          <a:prstGeom prst="rect">
            <a:avLst/>
          </a:prstGeom>
          <a:solidFill>
            <a:schemeClr val="accent6"/>
          </a:solidFill>
          <a:ln w="12700">
            <a:solidFill>
              <a:schemeClr val="accent6"/>
            </a:solidFill>
            <a:prstDash val="solid"/>
          </a:ln>
          <a:effectLst>
            <a:outerShdw sx="100000" sy="100000" kx="0" ky="0" algn="bl" rotWithShape="0" blurRad="76200" dist="25400" dir="5400000">
              <a:srgbClr val="000000">
                <a:alpha val="12000"/>
              </a:srgbClr>
            </a:outerShdw>
          </a:effectLst>
        </p:spPr>
      </p:sp>
      <p:sp>
        <p:nvSpPr>
          <p:cNvPr id="8" name="Text 6"/>
          <p:cNvSpPr txBox="1"/>
          <p:nvPr/>
        </p:nvSpPr>
        <p:spPr>
          <a:xfrm>
            <a:off x="4535424" y="1645920"/>
            <a:ext cx="3118104" cy="32004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Limits</a:t>
            </a:r>
            <a:endParaRPr lang="en-US" sz="1800" dirty="0"/>
          </a:p>
        </p:txBody>
      </p:sp>
      <p:sp>
        <p:nvSpPr>
          <p:cNvPr id="9" name="Text 7"/>
          <p:cNvSpPr txBox="1"/>
          <p:nvPr/>
        </p:nvSpPr>
        <p:spPr>
          <a:xfrm>
            <a:off x="4535424" y="2103120"/>
            <a:ext cx="3118104" cy="25603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2B2B2B"/>
                </a:solidFill>
                <a:latin typeface="Calibri" pitchFamily="34" charset="0"/>
                <a:ea typeface="Calibri" pitchFamily="34" charset="-122"/>
                <a:cs typeface="Calibri" pitchFamily="34" charset="-120"/>
              </a:rPr>
              <a:t>All data is fictional and there was no user study.</a:t>
            </a:r>
            <a:endParaRPr lang="en-US" sz="1400" dirty="0"/>
          </a:p>
          <a:p>
            <a:pPr marL="342900" indent="-342900">
              <a:spcAft>
                <a:spcPts val="600"/>
              </a:spcAft>
              <a:buSzPct val="100000"/>
              <a:buChar char="•"/>
            </a:pPr>
            <a:r>
              <a:rPr lang="en-US" sz="1400" dirty="0">
                <a:solidFill>
                  <a:srgbClr val="2B2B2B"/>
                </a:solidFill>
                <a:latin typeface="Calibri" pitchFamily="34" charset="0"/>
                <a:ea typeface="Calibri" pitchFamily="34" charset="-122"/>
                <a:cs typeface="Calibri" pitchFamily="34" charset="-120"/>
              </a:rPr>
              <a:t>Passwords use unsalted SHA-256 and sessions never expire.</a:t>
            </a:r>
            <a:endParaRPr lang="en-US" sz="1400" dirty="0"/>
          </a:p>
          <a:p>
            <a:pPr marL="342900" indent="-342900">
              <a:spcAft>
                <a:spcPts val="600"/>
              </a:spcAft>
              <a:buSzPct val="100000"/>
              <a:buChar char="•"/>
            </a:pPr>
            <a:r>
              <a:rPr lang="en-US" sz="1400" dirty="0">
                <a:solidFill>
                  <a:srgbClr val="2B2B2B"/>
                </a:solidFill>
                <a:latin typeface="Calibri" pitchFamily="34" charset="0"/>
                <a:ea typeface="Calibri" pitchFamily="34" charset="-122"/>
                <a:cs typeface="Calibri" pitchFamily="34" charset="-120"/>
              </a:rPr>
              <a:t>Every save rewrites the whole file, and there is no JUnit suite yet.</a:t>
            </a:r>
            <a:endParaRPr lang="en-US" sz="1400" dirty="0"/>
          </a:p>
        </p:txBody>
      </p:sp>
      <p:sp>
        <p:nvSpPr>
          <p:cNvPr id="10" name="Shape 8"/>
          <p:cNvSpPr/>
          <p:nvPr/>
        </p:nvSpPr>
        <p:spPr>
          <a:xfrm>
            <a:off x="8065008" y="1508760"/>
            <a:ext cx="3575304" cy="2926080"/>
          </a:xfrm>
          <a:prstGeom prst="rect">
            <a:avLst/>
          </a:prstGeom>
          <a:solidFill>
            <a:schemeClr val="accent6"/>
          </a:solidFill>
          <a:ln w="12700">
            <a:solidFill>
              <a:schemeClr val="accent6"/>
            </a:solidFill>
            <a:prstDash val="solid"/>
          </a:ln>
          <a:effectLst>
            <a:outerShdw sx="100000" sy="100000" kx="0" ky="0" algn="bl" rotWithShape="0" blurRad="76200" dist="25400" dir="5400000">
              <a:srgbClr val="000000">
                <a:alpha val="12000"/>
              </a:srgbClr>
            </a:outerShdw>
          </a:effectLst>
        </p:spPr>
      </p:sp>
      <p:sp>
        <p:nvSpPr>
          <p:cNvPr id="11" name="Text 9"/>
          <p:cNvSpPr txBox="1"/>
          <p:nvPr/>
        </p:nvSpPr>
        <p:spPr>
          <a:xfrm>
            <a:off x="8293608" y="1645920"/>
            <a:ext cx="3118104" cy="32004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Next</a:t>
            </a:r>
            <a:endParaRPr lang="en-US" sz="1800" dirty="0"/>
          </a:p>
        </p:txBody>
      </p:sp>
      <p:sp>
        <p:nvSpPr>
          <p:cNvPr id="12" name="Text 10"/>
          <p:cNvSpPr txBox="1"/>
          <p:nvPr/>
        </p:nvSpPr>
        <p:spPr>
          <a:xfrm>
            <a:off x="8293608" y="2103120"/>
            <a:ext cx="3118104" cy="25603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2B2B2B"/>
                </a:solidFill>
                <a:latin typeface="Calibri" pitchFamily="34" charset="0"/>
                <a:ea typeface="Calibri" pitchFamily="34" charset="-122"/>
                <a:cs typeface="Calibri" pitchFamily="34" charset="-120"/>
              </a:rPr>
              <a:t>Add JUnit tests and a coverage report.</a:t>
            </a:r>
            <a:endParaRPr lang="en-US" sz="1400" dirty="0"/>
          </a:p>
          <a:p>
            <a:pPr marL="342900" indent="-342900">
              <a:spcAft>
                <a:spcPts val="600"/>
              </a:spcAft>
              <a:buSzPct val="100000"/>
              <a:buChar char="•"/>
            </a:pPr>
            <a:r>
              <a:rPr lang="en-US" sz="1400" dirty="0">
                <a:solidFill>
                  <a:srgbClr val="2B2B2B"/>
                </a:solidFill>
                <a:latin typeface="Calibri" pitchFamily="34" charset="0"/>
                <a:ea typeface="Calibri" pitchFamily="34" charset="-122"/>
                <a:cs typeface="Calibri" pitchFamily="34" charset="-120"/>
              </a:rPr>
              <a:t>Move to a database; use a salted, slow password hash.</a:t>
            </a:r>
            <a:endParaRPr lang="en-US" sz="1400" dirty="0"/>
          </a:p>
          <a:p>
            <a:pPr marL="342900" indent="-342900">
              <a:spcAft>
                <a:spcPts val="600"/>
              </a:spcAft>
              <a:buSzPct val="100000"/>
              <a:buChar char="•"/>
            </a:pPr>
            <a:r>
              <a:rPr lang="en-US" sz="1400" dirty="0">
                <a:solidFill>
                  <a:srgbClr val="2B2B2B"/>
                </a:solidFill>
                <a:latin typeface="Calibri" pitchFamily="34" charset="0"/>
                <a:ea typeface="Calibri" pitchFamily="34" charset="-122"/>
                <a:cs typeface="Calibri" pitchFamily="34" charset="-120"/>
              </a:rPr>
              <a:t>E-mail notices, resume upload and interview scheduling.</a:t>
            </a:r>
            <a:endParaRPr lang="en-US" sz="1400" dirty="0"/>
          </a:p>
        </p:txBody>
      </p:sp>
      <p:sp>
        <p:nvSpPr>
          <p:cNvPr id="13" name="Text 11"/>
          <p:cNvSpPr txBox="1"/>
          <p:nvPr/>
        </p:nvSpPr>
        <p:spPr>
          <a:xfrm>
            <a:off x="548640" y="4846320"/>
            <a:ext cx="1097280" cy="36576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FAQs</a:t>
            </a:r>
            <a:endParaRPr lang="en-US" sz="1800" dirty="0"/>
          </a:p>
        </p:txBody>
      </p:sp>
      <p:sp>
        <p:nvSpPr>
          <p:cNvPr id="14" name="Text 12"/>
          <p:cNvSpPr txBox="1"/>
          <p:nvPr/>
        </p:nvSpPr>
        <p:spPr>
          <a:xfrm>
            <a:off x="1828800" y="4846320"/>
            <a:ext cx="9784080" cy="137160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latin typeface="Calibri" pitchFamily="34" charset="0"/>
                <a:ea typeface="Calibri" pitchFamily="34" charset="-122"/>
                <a:cs typeface="Calibri" pitchFamily="34" charset="-120"/>
              </a:rPr>
              <a:t>Is this real placement data? </a:t>
            </a:r>
            <a:pPr indent="0" marL="0">
              <a:spcAft>
                <a:spcPts val="600"/>
              </a:spcAft>
              <a:buNone/>
            </a:pPr>
            <a:r>
              <a:rPr lang="en-US" sz="1500" dirty="0">
                <a:solidFill>
                  <a:schemeClr val="tx1"/>
                </a:solidFill>
                <a:latin typeface="Calibri" pitchFamily="34" charset="0"/>
                <a:ea typeface="Calibri" pitchFamily="34" charset="-122"/>
                <a:cs typeface="Calibri" pitchFamily="34" charset="-120"/>
              </a:rPr>
              <a:t>No. Everything is fictional sample data.</a:t>
            </a:r>
            <a:endParaRPr lang="en-US" sz="1500" dirty="0"/>
          </a:p>
          <a:p>
            <a:pPr indent="0" marL="0">
              <a:spcAft>
                <a:spcPts val="600"/>
              </a:spcAft>
              <a:buNone/>
            </a:pPr>
            <a:r>
              <a:rPr lang="en-US" sz="1500" b="1" dirty="0">
                <a:solidFill>
                  <a:schemeClr val="tx1"/>
                </a:solidFill>
                <a:latin typeface="Calibri" pitchFamily="34" charset="0"/>
                <a:ea typeface="Calibri" pitchFamily="34" charset="-122"/>
                <a:cs typeface="Calibri" pitchFamily="34" charset="-120"/>
              </a:rPr>
              <a:t>Why no unit tests? </a:t>
            </a:r>
            <a:pPr indent="0" marL="0">
              <a:spcAft>
                <a:spcPts val="600"/>
              </a:spcAft>
              <a:buNone/>
            </a:pPr>
            <a:r>
              <a:rPr lang="en-US" sz="1500" dirty="0">
                <a:solidFill>
                  <a:schemeClr val="tx1"/>
                </a:solidFill>
                <a:latin typeface="Calibri" pitchFamily="34" charset="0"/>
                <a:ea typeface="Calibri" pitchFamily="34" charset="-122"/>
                <a:cs typeface="Calibri" pitchFamily="34" charset="-120"/>
              </a:rPr>
              <a:t>The project has none yet. We ran the 18 documented cases with a script and list this as a limit.</a:t>
            </a:r>
            <a:endParaRPr lang="en-US" sz="1500" dirty="0"/>
          </a:p>
        </p:txBody>
      </p:sp>
      <p:sp>
        <p:nvSpPr>
          <p:cNvPr id="15" name="Text 13"/>
          <p:cNvSpPr txBox="1"/>
          <p:nvPr/>
        </p:nvSpPr>
        <p:spPr>
          <a:xfrm>
            <a:off x="548640" y="6400800"/>
            <a:ext cx="9875520" cy="274320"/>
          </a:xfrm>
          <a:prstGeom prst="rect">
            <a:avLst/>
          </a:prstGeom>
          <a:noFill/>
          <a:ln/>
        </p:spPr>
        <p:txBody>
          <a:bodyPr wrap="square" lIns="0" tIns="0" rIns="0" bIns="0" rtlCol="0" anchor="t"/>
          <a:lstStyle/>
          <a:p>
            <a:pPr indent="0" marL="0">
              <a:buNone/>
            </a:pPr>
            <a:r>
              <a:rPr lang="en-US" sz="1000" dirty="0">
                <a:solidFill>
                  <a:srgbClr val="6B665A"/>
                </a:solidFill>
                <a:latin typeface="Calibri" pitchFamily="34" charset="0"/>
                <a:ea typeface="Calibri" pitchFamily="34" charset="-122"/>
                <a:cs typeface="Calibri" pitchFamily="34" charset="-120"/>
              </a:rPr>
              <a:t>Internship Management System · Shah, Rao · full report: Design and Evaluation of an Object-Oriented Internship Management System</a:t>
            </a:r>
            <a:endParaRPr lang="en-US" sz="1000" dirty="0"/>
          </a:p>
        </p:txBody>
      </p:sp>
      <p:sp>
        <p:nvSpPr>
          <p:cNvPr id="17" name="Text 0"/>
          <p:cNvSpPr/>
          <p:nvPr>
            <p:ph idx="100" type="title" hasCustomPrompt="1"/>
          </p:nvPr>
        </p:nvSpPr>
        <p:spPr>
          <a:xfrm>
            <a:off x="548640" y="566928"/>
            <a:ext cx="11064240" cy="685800"/>
          </a:xfrm>
          <a:prstGeom prst="rect">
            <a:avLst/>
          </a:prstGeom>
          <a:noFill/>
          <a:ln/>
        </p:spPr>
        <p:txBody>
          <a:bodyPr wrap="square" lIns="0" tIns="0" rIns="0" bIns="0" rtlCol="0" anchor="t"/>
          <a:lstStyle/>
          <a:p>
            <a:pPr algn="l" indent="0" marL="0">
              <a:buNone/>
            </a:pPr>
            <a:endParaRPr lang="en-US" sz="3400" dirty="0"/>
          </a:p>
        </p:txBody>
      </p:sp>
      <p:sp>
        <p:nvSpPr>
          <p:cNvPr id="25" name="Slide Number Placeholder 0"/>
          <p:cNvSpPr>
            <a:spLocks noGrp="1"/>
          </p:cNvSpPr>
          <p:nvPr>
            <p:ph type="sldNum" sz="quarter" idx="4294967295"/>
          </p:nvPr>
        </p:nvSpPr>
        <p:spPr>
          <a:xfrm>
            <a:off x="10698480" y="6400800"/>
            <a:ext cx="9418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IMS Deck">
  <a:themeElements>
    <a:clrScheme name="IMS Deck">
      <a:dk1>
        <a:srgbClr val="0E1A2B"/>
      </a:dk1>
      <a:lt1>
        <a:srgbClr val="FFFFFF"/>
      </a:lt1>
      <a:dk2>
        <a:srgbClr val="1C2C45"/>
      </a:dk2>
      <a:lt2>
        <a:srgbClr val="F4F0E5"/>
      </a:lt2>
      <a:accent1>
        <a:srgbClr val="C4590A"/>
      </a:accent1>
      <a:accent2>
        <a:srgbClr val="F2A33A"/>
      </a:accent2>
      <a:accent3>
        <a:srgbClr val="4E9BD6"/>
      </a:accent3>
      <a:accent4>
        <a:srgbClr val="34486A"/>
      </a:accent4>
      <a:accent5>
        <a:srgbClr val="2A3B57"/>
      </a:accent5>
      <a:accent6>
        <a:srgbClr val="FBE8C8"/>
      </a:accent6>
      <a:hlink>
        <a:srgbClr val="4E9BD6"/>
      </a:hlink>
      <a:folHlink>
        <a:srgbClr val="9FB0C8"/>
      </a:folHlink>
    </a:clrScheme>
    <a:fontScheme name="IMS Deck">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Internship Management System</dc:title>
  <dc:subject>PptxGenJS Presentation</dc:subject>
  <dc:creator>Hiya Shah, Manyata Rao</dc:creator>
  <cp:lastModifiedBy>Hiya Shah, Manyata Rao</cp:lastModifiedBy>
  <cp:revision>1</cp:revision>
  <dcterms:created xsi:type="dcterms:W3CDTF">2026-10-26T20:29:28Z</dcterms:created>
  <dcterms:modified xsi:type="dcterms:W3CDTF">2026-10-26T20:29:28Z</dcterms:modified>
</cp:coreProperties>
</file>